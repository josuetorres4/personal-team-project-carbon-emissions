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9" r:id="rId4"/>
    <p:sldId id="268" r:id="rId5"/>
    <p:sldId id="260" r:id="rId6"/>
    <p:sldId id="261" r:id="rId7"/>
    <p:sldId id="262" r:id="rId8"/>
    <p:sldId id="264" r:id="rId9"/>
    <p:sldId id="266" r:id="rId10"/>
    <p:sldId id="267"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77131"/>
  </p:normalViewPr>
  <p:slideViewPr>
    <p:cSldViewPr snapToGrid="0">
      <p:cViewPr varScale="1">
        <p:scale>
          <a:sx n="91" d="100"/>
          <a:sy n="91" d="100"/>
        </p:scale>
        <p:origin x="192" y="216"/>
      </p:cViewPr>
      <p:guideLst/>
    </p:cSldViewPr>
  </p:slideViewPr>
  <p:notesTextViewPr>
    <p:cViewPr>
      <p:scale>
        <a:sx n="110" d="100"/>
        <a:sy n="11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0D38F-757A-D240-AB0A-3769BF4477E0}" type="datetimeFigureOut">
              <a:rPr lang="en-US" smtClean="0"/>
              <a:t>3/6/26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B14104-EA28-5945-B22D-A96B42E52B72}" type="slidenum">
              <a:rPr lang="en-US" smtClean="0"/>
              <a:t>‹#›</a:t>
            </a:fld>
            <a:endParaRPr lang="en-US"/>
          </a:p>
        </p:txBody>
      </p:sp>
    </p:spTree>
    <p:extLst>
      <p:ext uri="{BB962C8B-B14F-4D97-AF65-F5344CB8AC3E}">
        <p14:creationId xmlns:p14="http://schemas.microsoft.com/office/powerpoint/2010/main" val="1513686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project addresses the growing environmental impact of cloud infrastructure and AI workloads. While cloud providers provide carbon reporting tools, developers still lack intelligent systems that help them make sustainable infrastructure decisions. Our goal is to build a multi-agent system that analyzes workloads and recommends lower-carbon execution strategies.”</a:t>
            </a:r>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1</a:t>
            </a:fld>
            <a:endParaRPr lang="en-US"/>
          </a:p>
        </p:txBody>
      </p:sp>
    </p:spTree>
    <p:extLst>
      <p:ext uri="{BB962C8B-B14F-4D97-AF65-F5344CB8AC3E}">
        <p14:creationId xmlns:p14="http://schemas.microsoft.com/office/powerpoint/2010/main" val="661701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At the start of the project we had three main assumptions.</a:t>
            </a:r>
          </a:p>
          <a:p>
            <a:r>
              <a:rPr lang="en-US" sz="1200" b="0" i="0" u="none" strike="noStrike" kern="1200" dirty="0">
                <a:solidFill>
                  <a:schemeClr val="tx1"/>
                </a:solidFill>
                <a:effectLst/>
                <a:latin typeface="+mn-lt"/>
                <a:ea typeface="+mn-ea"/>
                <a:cs typeface="+mn-cs"/>
              </a:rPr>
              <a:t>First, we believed developers would benefit from carbon-aware infrastructure recommendations.</a:t>
            </a:r>
          </a:p>
          <a:p>
            <a:r>
              <a:rPr lang="en-US" sz="1200" b="0" i="0" u="none" strike="noStrike" kern="1200" dirty="0">
                <a:solidFill>
                  <a:schemeClr val="tx1"/>
                </a:solidFill>
                <a:effectLst/>
                <a:latin typeface="+mn-lt"/>
                <a:ea typeface="+mn-ea"/>
                <a:cs typeface="+mn-cs"/>
              </a:rPr>
              <a:t>Second, we assumed that current sustainability dashboards are difficult for developers to interpret when making infrastructure decisions.</a:t>
            </a:r>
          </a:p>
          <a:p>
            <a:r>
              <a:rPr lang="en-US" sz="1200" b="0" i="0" u="none" strike="noStrike" kern="1200" dirty="0">
                <a:solidFill>
                  <a:schemeClr val="tx1"/>
                </a:solidFill>
                <a:effectLst/>
                <a:latin typeface="+mn-lt"/>
                <a:ea typeface="+mn-ea"/>
                <a:cs typeface="+mn-cs"/>
              </a:rPr>
              <a:t>Third, we wanted to test whether AI agents could help reason about sustainability trade-offs between carbon emissions, cost, and performance.</a:t>
            </a:r>
          </a:p>
          <a:p>
            <a:r>
              <a:rPr lang="en-US" sz="1200" b="0" i="0" u="none" strike="noStrike" kern="1200" dirty="0">
                <a:solidFill>
                  <a:schemeClr val="tx1"/>
                </a:solidFill>
                <a:effectLst/>
                <a:latin typeface="+mn-lt"/>
                <a:ea typeface="+mn-ea"/>
                <a:cs typeface="+mn-cs"/>
              </a:rPr>
              <a:t>To validate these assumptions, we conducted pilot interviews, prompting experiments with AI tools, and built a small prototype dashboard simulation</a:t>
            </a:r>
          </a:p>
        </p:txBody>
      </p:sp>
      <p:sp>
        <p:nvSpPr>
          <p:cNvPr id="4" name="Slide Number Placeholder 3"/>
          <p:cNvSpPr>
            <a:spLocks noGrp="1"/>
          </p:cNvSpPr>
          <p:nvPr>
            <p:ph type="sldNum" sz="quarter" idx="5"/>
          </p:nvPr>
        </p:nvSpPr>
        <p:spPr/>
        <p:txBody>
          <a:bodyPr/>
          <a:lstStyle/>
          <a:p>
            <a:fld id="{D5B14104-EA28-5945-B22D-A96B42E52B72}" type="slidenum">
              <a:rPr lang="en-US" smtClean="0"/>
              <a:t>2</a:t>
            </a:fld>
            <a:endParaRPr lang="en-US"/>
          </a:p>
        </p:txBody>
      </p:sp>
    </p:spTree>
    <p:extLst>
      <p:ext uri="{BB962C8B-B14F-4D97-AF65-F5344CB8AC3E}">
        <p14:creationId xmlns:p14="http://schemas.microsoft.com/office/powerpoint/2010/main" val="2804685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To validate our concept, we conducted prompting experiments across multiple AI tools including ChatGPT, Cursor, Copilot, and NotebookLM.</a:t>
            </a:r>
          </a:p>
          <a:p>
            <a:r>
              <a:rPr lang="en-US" sz="1200" b="0" i="0" u="none" strike="noStrike" kern="1200" dirty="0">
                <a:solidFill>
                  <a:schemeClr val="tx1"/>
                </a:solidFill>
                <a:effectLst/>
                <a:latin typeface="+mn-lt"/>
                <a:ea typeface="+mn-ea"/>
                <a:cs typeface="+mn-cs"/>
              </a:rPr>
              <a:t>We structured these experiments using three categories: typical cases, edge cases, and failure cases.</a:t>
            </a:r>
          </a:p>
          <a:p>
            <a:r>
              <a:rPr lang="en-US" sz="1200" b="0" i="0" u="none" strike="noStrike" kern="1200" dirty="0">
                <a:solidFill>
                  <a:schemeClr val="tx1"/>
                </a:solidFill>
                <a:effectLst/>
                <a:latin typeface="+mn-lt"/>
                <a:ea typeface="+mn-ea"/>
                <a:cs typeface="+mn-cs"/>
              </a:rPr>
              <a:t>Typical cases tested whether models could reason about carbon-aware workload scheduling.</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Edge cases evaluated cost versus carbon trade-offs.</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Failure cases simulated a multi-agent system running for 30 days with synthetic workload data.</a:t>
            </a:r>
          </a:p>
          <a:p>
            <a:r>
              <a:rPr lang="en-US" sz="1200" b="0" i="0" u="none" strike="noStrike" kern="1200" dirty="0">
                <a:solidFill>
                  <a:schemeClr val="tx1"/>
                </a:solidFill>
                <a:effectLst/>
                <a:latin typeface="+mn-lt"/>
                <a:ea typeface="+mn-ea"/>
                <a:cs typeface="+mn-cs"/>
              </a:rPr>
              <a:t>This approach helped us understand both the strengths and limitations of LLM-based sustainability reasoning.</a:t>
            </a:r>
          </a:p>
          <a:p>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3</a:t>
            </a:fld>
            <a:endParaRPr lang="en-US"/>
          </a:p>
        </p:txBody>
      </p:sp>
    </p:spTree>
    <p:extLst>
      <p:ext uri="{BB962C8B-B14F-4D97-AF65-F5344CB8AC3E}">
        <p14:creationId xmlns:p14="http://schemas.microsoft.com/office/powerpoint/2010/main" val="24835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My interviews with professionals showed that sustainability is rarely considered in everyday engineering workflows because existing tools are retrospective and difficult to interpret.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Sarthak’s interviews with data engineers highlighted technical challenges in retrieving carbon data across distributed cloud systems.</a:t>
            </a:r>
          </a:p>
          <a:p>
            <a:r>
              <a:rPr lang="en-US" sz="1200" b="0" i="0" u="none" strike="noStrike" kern="1200" dirty="0">
                <a:solidFill>
                  <a:schemeClr val="tx1"/>
                </a:solidFill>
                <a:effectLst/>
                <a:latin typeface="+mn-lt"/>
                <a:ea typeface="+mn-ea"/>
                <a:cs typeface="+mn-cs"/>
              </a:rPr>
              <a:t>Together these insights revealed that existing tools focus on </a:t>
            </a:r>
            <a:r>
              <a:rPr lang="en-US" sz="1200" b="1" i="0" u="none" strike="noStrike" kern="1200" dirty="0">
                <a:solidFill>
                  <a:schemeClr val="tx1"/>
                </a:solidFill>
                <a:effectLst/>
                <a:latin typeface="+mn-lt"/>
                <a:ea typeface="+mn-ea"/>
                <a:cs typeface="+mn-cs"/>
              </a:rPr>
              <a:t>measurement</a:t>
            </a:r>
            <a:r>
              <a:rPr lang="en-US" sz="1200" b="0" i="0" u="none" strike="noStrike" kern="1200" dirty="0">
                <a:solidFill>
                  <a:schemeClr val="tx1"/>
                </a:solidFill>
                <a:effectLst/>
                <a:latin typeface="+mn-lt"/>
                <a:ea typeface="+mn-ea"/>
                <a:cs typeface="+mn-cs"/>
              </a:rPr>
              <a:t>, but users actually need </a:t>
            </a:r>
            <a:r>
              <a:rPr lang="en-US" sz="1200" b="1" i="0" u="none" strike="noStrike" kern="1200" dirty="0">
                <a:solidFill>
                  <a:schemeClr val="tx1"/>
                </a:solidFill>
                <a:effectLst/>
                <a:latin typeface="+mn-lt"/>
                <a:ea typeface="+mn-ea"/>
                <a:cs typeface="+mn-cs"/>
              </a:rPr>
              <a:t>decision guidance</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Josue’s interviews with students revealed that people care about environmental impact, but they rarely calculate their carbon footprint because current tools require too much data and lack transparency.</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mn-lt"/>
                <a:ea typeface="+mn-ea"/>
                <a:cs typeface="+mn-cs"/>
              </a:rPr>
              <a:t>Key Insight: Users want guidance on reducing emissions, not just measuring them.</a:t>
            </a:r>
            <a:endParaRPr lang="en-US" sz="1200" b="0" i="0" u="none" strike="noStrike" kern="1200" dirty="0">
              <a:solidFill>
                <a:schemeClr val="tx1"/>
              </a:solidFill>
              <a:effectLst/>
              <a:latin typeface="+mn-lt"/>
              <a:ea typeface="+mn-ea"/>
              <a:cs typeface="+mn-cs"/>
            </a:endParaRPr>
          </a:p>
          <a:p>
            <a:endParaRPr lang="en-US"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5B14104-EA28-5945-B22D-A96B42E52B72}" type="slidenum">
              <a:rPr lang="en-US" smtClean="0"/>
              <a:t>4</a:t>
            </a:fld>
            <a:endParaRPr lang="en-US"/>
          </a:p>
        </p:txBody>
      </p:sp>
    </p:spTree>
    <p:extLst>
      <p:ext uri="{BB962C8B-B14F-4D97-AF65-F5344CB8AC3E}">
        <p14:creationId xmlns:p14="http://schemas.microsoft.com/office/powerpoint/2010/main" val="50335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prompting experiments also revealed both strengths and weaknesses of current AI tools.</a:t>
            </a:r>
          </a:p>
          <a:p>
            <a:r>
              <a:rPr lang="en-US" sz="1200" b="0" i="0" u="none" strike="noStrike" kern="1200" dirty="0">
                <a:solidFill>
                  <a:schemeClr val="tx1"/>
                </a:solidFill>
                <a:effectLst/>
                <a:latin typeface="+mn-lt"/>
                <a:ea typeface="+mn-ea"/>
                <a:cs typeface="+mn-cs"/>
              </a:rPr>
              <a:t>On the positive side, models were able to identify lower-carbon regions and generate sustainability optimization suggestions.</a:t>
            </a:r>
          </a:p>
          <a:p>
            <a:r>
              <a:rPr lang="en-US" sz="1200" b="0" i="0" u="none" strike="noStrike" kern="1200" dirty="0">
                <a:solidFill>
                  <a:schemeClr val="tx1"/>
                </a:solidFill>
                <a:effectLst/>
                <a:latin typeface="+mn-lt"/>
                <a:ea typeface="+mn-ea"/>
                <a:cs typeface="+mn-cs"/>
              </a:rPr>
              <a:t>However, we also encountered several limitations.</a:t>
            </a:r>
          </a:p>
          <a:p>
            <a:r>
              <a:rPr lang="en-US" sz="1200" b="0" i="0" u="none" strike="noStrike" kern="1200" dirty="0">
                <a:solidFill>
                  <a:schemeClr val="tx1"/>
                </a:solidFill>
                <a:effectLst/>
                <a:latin typeface="+mn-lt"/>
                <a:ea typeface="+mn-ea"/>
                <a:cs typeface="+mn-cs"/>
              </a:rPr>
              <a:t>During our multi-agent simulation, the system sometimes hit token limits and API rate limits. In some cases the agents also entered reasoning loops where the same workloads were evaluated repeatedly without new data.</a:t>
            </a:r>
          </a:p>
          <a:p>
            <a:r>
              <a:rPr lang="en-US" sz="1200" b="0" i="0" u="none" strike="noStrike" kern="1200" dirty="0">
                <a:solidFill>
                  <a:schemeClr val="tx1"/>
                </a:solidFill>
                <a:effectLst/>
                <a:latin typeface="+mn-lt"/>
                <a:ea typeface="+mn-ea"/>
                <a:cs typeface="+mn-cs"/>
              </a:rPr>
              <a:t>Another issue was that emission factor sources were rarely cited, which raises concerns about reliability.</a:t>
            </a:r>
          </a:p>
          <a:p>
            <a:r>
              <a:rPr lang="en-US" sz="1200" b="0" i="0" u="none" strike="noStrike" kern="1200" dirty="0">
                <a:solidFill>
                  <a:schemeClr val="tx1"/>
                </a:solidFill>
                <a:effectLst/>
                <a:latin typeface="+mn-lt"/>
                <a:ea typeface="+mn-ea"/>
                <a:cs typeface="+mn-cs"/>
              </a:rPr>
              <a:t>These failures were actually valuable because they helped us refine the design of our system.</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Failures were the most valuable part of our experiments</a:t>
            </a:r>
          </a:p>
        </p:txBody>
      </p:sp>
      <p:sp>
        <p:nvSpPr>
          <p:cNvPr id="4" name="Slide Number Placeholder 3"/>
          <p:cNvSpPr>
            <a:spLocks noGrp="1"/>
          </p:cNvSpPr>
          <p:nvPr>
            <p:ph type="sldNum" sz="quarter" idx="5"/>
          </p:nvPr>
        </p:nvSpPr>
        <p:spPr/>
        <p:txBody>
          <a:bodyPr/>
          <a:lstStyle/>
          <a:p>
            <a:fld id="{D5B14104-EA28-5945-B22D-A96B42E52B72}" type="slidenum">
              <a:rPr lang="en-US" smtClean="0"/>
              <a:t>5</a:t>
            </a:fld>
            <a:endParaRPr lang="en-US"/>
          </a:p>
        </p:txBody>
      </p:sp>
    </p:spTree>
    <p:extLst>
      <p:ext uri="{BB962C8B-B14F-4D97-AF65-F5344CB8AC3E}">
        <p14:creationId xmlns:p14="http://schemas.microsoft.com/office/powerpoint/2010/main" val="4178469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also analyzed existing carbon management platforms like Plan A and Normative.</a:t>
            </a:r>
          </a:p>
          <a:p>
            <a:r>
              <a:rPr lang="en-US" sz="1200" b="0" i="0" u="none" strike="noStrike" kern="1200" dirty="0">
                <a:solidFill>
                  <a:schemeClr val="tx1"/>
                </a:solidFill>
                <a:effectLst/>
                <a:latin typeface="+mn-lt"/>
                <a:ea typeface="+mn-ea"/>
                <a:cs typeface="+mn-cs"/>
              </a:rPr>
              <a:t>These platforms are very strong in carbon accounting and ESG reporting. They help organizations measure emissions across Scopes.</a:t>
            </a:r>
          </a:p>
          <a:p>
            <a:r>
              <a:rPr lang="en-US" sz="1200" b="0" i="0" u="none" strike="noStrike" kern="1200" dirty="0">
                <a:solidFill>
                  <a:schemeClr val="tx1"/>
                </a:solidFill>
                <a:effectLst/>
                <a:latin typeface="+mn-lt"/>
                <a:ea typeface="+mn-ea"/>
                <a:cs typeface="+mn-cs"/>
              </a:rPr>
              <a:t>However, they primarily operate at the </a:t>
            </a:r>
            <a:r>
              <a:rPr lang="en-US" sz="1200" b="1" i="0" u="none" strike="noStrike" kern="1200" dirty="0">
                <a:solidFill>
                  <a:schemeClr val="tx1"/>
                </a:solidFill>
                <a:effectLst/>
                <a:latin typeface="+mn-lt"/>
                <a:ea typeface="+mn-ea"/>
                <a:cs typeface="+mn-cs"/>
              </a:rPr>
              <a:t>organizational reporting level</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Developers and infrastructure teams still lack tools that help them make sustainability decisions during workload deployment.</a:t>
            </a:r>
          </a:p>
          <a:p>
            <a:r>
              <a:rPr lang="en-US" sz="1200" b="0" i="0" u="none" strike="noStrike" kern="1200" dirty="0">
                <a:solidFill>
                  <a:schemeClr val="tx1"/>
                </a:solidFill>
                <a:effectLst/>
                <a:latin typeface="+mn-lt"/>
                <a:ea typeface="+mn-ea"/>
                <a:cs typeface="+mn-cs"/>
              </a:rPr>
              <a:t>This reveals a gap between </a:t>
            </a:r>
            <a:r>
              <a:rPr lang="en-US" sz="1200" b="1" i="0" u="none" strike="noStrike" kern="1200" dirty="0">
                <a:solidFill>
                  <a:schemeClr val="tx1"/>
                </a:solidFill>
                <a:effectLst/>
                <a:latin typeface="+mn-lt"/>
                <a:ea typeface="+mn-ea"/>
                <a:cs typeface="+mn-cs"/>
              </a:rPr>
              <a:t>carbon measurement systems</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carbon-aware decision systems</a:t>
            </a:r>
            <a:r>
              <a:rPr lang="en-US" sz="1200" b="0" i="0" u="none" strike="noStrike" kern="1200" dirty="0">
                <a:solidFill>
                  <a:schemeClr val="tx1"/>
                </a:solidFill>
                <a:effectLst/>
                <a:latin typeface="+mn-lt"/>
                <a:ea typeface="+mn-ea"/>
                <a:cs typeface="+mn-cs"/>
              </a:rPr>
              <a: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Most tools measure carbon.</a:t>
            </a:r>
            <a:br>
              <a:rPr lang="en-US" dirty="0"/>
            </a:br>
            <a:r>
              <a:rPr lang="en-US" sz="1200" b="0" i="0" u="none" strike="noStrike" kern="1200" dirty="0">
                <a:solidFill>
                  <a:schemeClr val="tx1"/>
                </a:solidFill>
                <a:effectLst/>
                <a:latin typeface="+mn-lt"/>
                <a:ea typeface="+mn-ea"/>
                <a:cs typeface="+mn-cs"/>
              </a:rPr>
              <a:t>Few tools help reduce it in real time</a:t>
            </a:r>
          </a:p>
        </p:txBody>
      </p:sp>
      <p:sp>
        <p:nvSpPr>
          <p:cNvPr id="4" name="Slide Number Placeholder 3"/>
          <p:cNvSpPr>
            <a:spLocks noGrp="1"/>
          </p:cNvSpPr>
          <p:nvPr>
            <p:ph type="sldNum" sz="quarter" idx="5"/>
          </p:nvPr>
        </p:nvSpPr>
        <p:spPr/>
        <p:txBody>
          <a:bodyPr/>
          <a:lstStyle/>
          <a:p>
            <a:fld id="{D5B14104-EA28-5945-B22D-A96B42E52B72}" type="slidenum">
              <a:rPr lang="en-US" smtClean="0"/>
              <a:t>6</a:t>
            </a:fld>
            <a:endParaRPr lang="en-US"/>
          </a:p>
        </p:txBody>
      </p:sp>
    </p:spTree>
    <p:extLst>
      <p:ext uri="{BB962C8B-B14F-4D97-AF65-F5344CB8AC3E}">
        <p14:creationId xmlns:p14="http://schemas.microsoft.com/office/powerpoint/2010/main" val="1270975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initial idea was to build a multimodal AI assistant that could recommend lower-carbon scheduling options.</a:t>
            </a:r>
          </a:p>
          <a:p>
            <a:r>
              <a:rPr lang="en-US" sz="1200" b="0" i="0" u="none" strike="noStrike" kern="1200" dirty="0">
                <a:solidFill>
                  <a:schemeClr val="tx1"/>
                </a:solidFill>
                <a:effectLst/>
                <a:latin typeface="+mn-lt"/>
                <a:ea typeface="+mn-ea"/>
                <a:cs typeface="+mn-cs"/>
              </a:rPr>
              <a:t>However, during validation we realized that this approach essentially created a </a:t>
            </a:r>
            <a:r>
              <a:rPr lang="en-US" sz="1200" b="1" i="0" u="none" strike="noStrike" kern="1200" dirty="0">
                <a:solidFill>
                  <a:schemeClr val="tx1"/>
                </a:solidFill>
                <a:effectLst/>
                <a:latin typeface="+mn-lt"/>
                <a:ea typeface="+mn-ea"/>
                <a:cs typeface="+mn-cs"/>
              </a:rPr>
              <a:t>fancy scheduling assistant</a:t>
            </a:r>
            <a:r>
              <a:rPr lang="en-US" sz="1200" b="0" i="0" u="none" strike="noStrike" kern="1200" dirty="0">
                <a:solidFill>
                  <a:schemeClr val="tx1"/>
                </a:solidFill>
                <a:effectLst/>
                <a:latin typeface="+mn-lt"/>
                <a:ea typeface="+mn-ea"/>
                <a:cs typeface="+mn-cs"/>
              </a:rPr>
              <a:t>.</a:t>
            </a:r>
          </a:p>
          <a:p>
            <a:r>
              <a:rPr lang="en-US" sz="1200" b="0" i="0" u="none" strike="noStrike" kern="1200" dirty="0">
                <a:solidFill>
                  <a:schemeClr val="tx1"/>
                </a:solidFill>
                <a:effectLst/>
                <a:latin typeface="+mn-lt"/>
                <a:ea typeface="+mn-ea"/>
                <a:cs typeface="+mn-cs"/>
              </a:rPr>
              <a:t>The system was predicting recommendations but not actually making decisions.</a:t>
            </a:r>
          </a:p>
          <a:p>
            <a:r>
              <a:rPr lang="en-US" sz="1200" b="0" i="0" u="none" strike="noStrike" kern="1200" dirty="0">
                <a:solidFill>
                  <a:schemeClr val="tx1"/>
                </a:solidFill>
                <a:effectLst/>
                <a:latin typeface="+mn-lt"/>
                <a:ea typeface="+mn-ea"/>
                <a:cs typeface="+mn-cs"/>
              </a:rPr>
              <a:t>So we refined the concept.</a:t>
            </a:r>
          </a:p>
          <a:p>
            <a:r>
              <a:rPr lang="en-US" sz="1200" b="0" i="0" u="none" strike="noStrike" kern="1200" dirty="0">
                <a:solidFill>
                  <a:schemeClr val="tx1"/>
                </a:solidFill>
                <a:effectLst/>
                <a:latin typeface="+mn-lt"/>
                <a:ea typeface="+mn-ea"/>
                <a:cs typeface="+mn-cs"/>
              </a:rPr>
              <a:t>Instead of simply suggesting regions, our system now allows agents to decide </a:t>
            </a:r>
            <a:r>
              <a:rPr lang="en-US" sz="1200" b="1" i="0" u="none" strike="noStrike" kern="1200" dirty="0">
                <a:solidFill>
                  <a:schemeClr val="tx1"/>
                </a:solidFill>
                <a:effectLst/>
                <a:latin typeface="+mn-lt"/>
                <a:ea typeface="+mn-ea"/>
                <a:cs typeface="+mn-cs"/>
              </a:rPr>
              <a:t>where workloads should run, when they should run, and how to balance carbon, cost, and performance.</a:t>
            </a:r>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This shift moved the system from a recommendation tool to a </a:t>
            </a:r>
            <a:r>
              <a:rPr lang="en-US" sz="1200" b="1" i="0" u="none" strike="noStrike" kern="1200" dirty="0">
                <a:solidFill>
                  <a:schemeClr val="tx1"/>
                </a:solidFill>
                <a:effectLst/>
                <a:latin typeface="+mn-lt"/>
                <a:ea typeface="+mn-ea"/>
                <a:cs typeface="+mn-cs"/>
              </a:rPr>
              <a:t>decision-support system for sustainable infrastructure</a:t>
            </a: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7</a:t>
            </a:fld>
            <a:endParaRPr lang="en-US"/>
          </a:p>
        </p:txBody>
      </p:sp>
    </p:spTree>
    <p:extLst>
      <p:ext uri="{BB962C8B-B14F-4D97-AF65-F5344CB8AC3E}">
        <p14:creationId xmlns:p14="http://schemas.microsoft.com/office/powerpoint/2010/main" val="1299310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Based on our findings we designed a multi-agent architecture.</a:t>
            </a:r>
          </a:p>
          <a:p>
            <a:r>
              <a:rPr lang="en-US" sz="1200" b="0" i="0" u="none" strike="noStrike" kern="1200" dirty="0">
                <a:solidFill>
                  <a:schemeClr val="tx1"/>
                </a:solidFill>
                <a:effectLst/>
                <a:latin typeface="+mn-lt"/>
                <a:ea typeface="+mn-ea"/>
                <a:cs typeface="+mn-cs"/>
              </a:rPr>
              <a:t>A carbon analyzer agent retrieves emissions data.</a:t>
            </a:r>
          </a:p>
          <a:p>
            <a:r>
              <a:rPr lang="en-US" sz="1200" b="0" i="0" u="none" strike="noStrike" kern="1200" dirty="0">
                <a:solidFill>
                  <a:schemeClr val="tx1"/>
                </a:solidFill>
                <a:effectLst/>
                <a:latin typeface="+mn-lt"/>
                <a:ea typeface="+mn-ea"/>
                <a:cs typeface="+mn-cs"/>
              </a:rPr>
              <a:t>A compute optimization agent evaluates infrastructure efficiency.</a:t>
            </a:r>
          </a:p>
          <a:p>
            <a:r>
              <a:rPr lang="en-US" sz="1200" b="0" i="0" u="none" strike="noStrike" kern="1200" dirty="0">
                <a:solidFill>
                  <a:schemeClr val="tx1"/>
                </a:solidFill>
                <a:effectLst/>
                <a:latin typeface="+mn-lt"/>
                <a:ea typeface="+mn-ea"/>
                <a:cs typeface="+mn-cs"/>
              </a:rPr>
              <a:t>A decision advisor agent generates sustainability recommendations and explains the reasoning behind them.</a:t>
            </a:r>
          </a:p>
          <a:p>
            <a:r>
              <a:rPr lang="en-US" sz="1200" b="0" i="0" u="none" strike="noStrike" kern="1200" dirty="0">
                <a:solidFill>
                  <a:schemeClr val="tx1"/>
                </a:solidFill>
                <a:effectLst/>
                <a:latin typeface="+mn-lt"/>
                <a:ea typeface="+mn-ea"/>
                <a:cs typeface="+mn-cs"/>
              </a:rPr>
              <a:t>Together these agents help developers make better infrastructure decisions before workloads are executed</a:t>
            </a:r>
          </a:p>
        </p:txBody>
      </p:sp>
      <p:sp>
        <p:nvSpPr>
          <p:cNvPr id="4" name="Slide Number Placeholder 3"/>
          <p:cNvSpPr>
            <a:spLocks noGrp="1"/>
          </p:cNvSpPr>
          <p:nvPr>
            <p:ph type="sldNum" sz="quarter" idx="5"/>
          </p:nvPr>
        </p:nvSpPr>
        <p:spPr/>
        <p:txBody>
          <a:bodyPr/>
          <a:lstStyle/>
          <a:p>
            <a:fld id="{D5B14104-EA28-5945-B22D-A96B42E52B72}" type="slidenum">
              <a:rPr lang="en-US" smtClean="0"/>
              <a:t>8</a:t>
            </a:fld>
            <a:endParaRPr lang="en-US"/>
          </a:p>
        </p:txBody>
      </p:sp>
    </p:spTree>
    <p:extLst>
      <p:ext uri="{BB962C8B-B14F-4D97-AF65-F5344CB8AC3E}">
        <p14:creationId xmlns:p14="http://schemas.microsoft.com/office/powerpoint/2010/main" val="2833907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9</a:t>
            </a:fld>
            <a:endParaRPr lang="en-US"/>
          </a:p>
        </p:txBody>
      </p:sp>
    </p:spTree>
    <p:extLst>
      <p:ext uri="{BB962C8B-B14F-4D97-AF65-F5344CB8AC3E}">
        <p14:creationId xmlns:p14="http://schemas.microsoft.com/office/powerpoint/2010/main" val="2473420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goal is to move from carbon reporting to carbon-aware decision systems.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Most sustainability platforms today focus on measuring emissions after infrastructure runs. </a:t>
            </a:r>
            <a:r>
              <a:rPr lang="en-US" sz="1200" b="0" i="0" u="none" strike="noStrike" kern="1200">
                <a:solidFill>
                  <a:schemeClr val="tx1"/>
                </a:solidFill>
                <a:effectLst/>
                <a:latin typeface="+mn-lt"/>
                <a:ea typeface="+mn-ea"/>
                <a:cs typeface="+mn-cs"/>
              </a:rPr>
              <a:t>Our work explores how AI agents could help organizations make better decisions before workloads run by combining carbon data, system optimization, and explainable reasoning.</a:t>
            </a:r>
            <a:endParaRPr lang="en-US" dirty="0"/>
          </a:p>
        </p:txBody>
      </p:sp>
      <p:sp>
        <p:nvSpPr>
          <p:cNvPr id="4" name="Slide Number Placeholder 3"/>
          <p:cNvSpPr>
            <a:spLocks noGrp="1"/>
          </p:cNvSpPr>
          <p:nvPr>
            <p:ph type="sldNum" sz="quarter" idx="5"/>
          </p:nvPr>
        </p:nvSpPr>
        <p:spPr/>
        <p:txBody>
          <a:bodyPr/>
          <a:lstStyle/>
          <a:p>
            <a:fld id="{D5B14104-EA28-5945-B22D-A96B42E52B72}" type="slidenum">
              <a:rPr lang="en-US" smtClean="0"/>
              <a:t>10</a:t>
            </a:fld>
            <a:endParaRPr lang="en-US"/>
          </a:p>
        </p:txBody>
      </p:sp>
    </p:spTree>
    <p:extLst>
      <p:ext uri="{BB962C8B-B14F-4D97-AF65-F5344CB8AC3E}">
        <p14:creationId xmlns:p14="http://schemas.microsoft.com/office/powerpoint/2010/main" val="890198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Through our experiments we identified several risks.</a:t>
            </a:r>
          </a:p>
          <a:p>
            <a:r>
              <a:rPr lang="en-US" sz="1200" b="0" i="0" u="none" strike="noStrike" kern="1200" dirty="0">
                <a:solidFill>
                  <a:schemeClr val="tx1"/>
                </a:solidFill>
                <a:effectLst/>
                <a:latin typeface="+mn-lt"/>
                <a:ea typeface="+mn-ea"/>
                <a:cs typeface="+mn-cs"/>
              </a:rPr>
              <a:t>These include unreliable emissions data, potential hallucinations in LLM reasoning, and instability in multi-agent orchestration.</a:t>
            </a:r>
          </a:p>
          <a:p>
            <a:r>
              <a:rPr lang="en-US" sz="1200" b="0" i="0" u="none" strike="noStrike" kern="1200" dirty="0">
                <a:solidFill>
                  <a:schemeClr val="tx1"/>
                </a:solidFill>
                <a:effectLst/>
                <a:latin typeface="+mn-lt"/>
                <a:ea typeface="+mn-ea"/>
                <a:cs typeface="+mn-cs"/>
              </a:rPr>
              <a:t>To address these risks, we plan to implement deterministic carbon calculations, verified emissions data sources, and safeguards that prevent infinite reasoning loops.</a:t>
            </a:r>
          </a:p>
          <a:p>
            <a:r>
              <a:rPr lang="en-US" sz="1200" b="0" i="0" u="none" strike="noStrike" kern="1200" dirty="0">
                <a:solidFill>
                  <a:schemeClr val="tx1"/>
                </a:solidFill>
                <a:effectLst/>
                <a:latin typeface="+mn-lt"/>
                <a:ea typeface="+mn-ea"/>
                <a:cs typeface="+mn-cs"/>
              </a:rPr>
              <a:t>For Checkpoint 3, our goal is to build a working prototype that integrates real emissions data and improves the stability of the agent system.</a:t>
            </a:r>
          </a:p>
        </p:txBody>
      </p:sp>
      <p:sp>
        <p:nvSpPr>
          <p:cNvPr id="4" name="Slide Number Placeholder 3"/>
          <p:cNvSpPr>
            <a:spLocks noGrp="1"/>
          </p:cNvSpPr>
          <p:nvPr>
            <p:ph type="sldNum" sz="quarter" idx="5"/>
          </p:nvPr>
        </p:nvSpPr>
        <p:spPr/>
        <p:txBody>
          <a:bodyPr/>
          <a:lstStyle/>
          <a:p>
            <a:fld id="{D5B14104-EA28-5945-B22D-A96B42E52B72}" type="slidenum">
              <a:rPr lang="en-US" smtClean="0"/>
              <a:t>11</a:t>
            </a:fld>
            <a:endParaRPr lang="en-US"/>
          </a:p>
        </p:txBody>
      </p:sp>
    </p:spTree>
    <p:extLst>
      <p:ext uri="{BB962C8B-B14F-4D97-AF65-F5344CB8AC3E}">
        <p14:creationId xmlns:p14="http://schemas.microsoft.com/office/powerpoint/2010/main" val="89336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D6E6D-650D-7F7F-4466-190A2825AA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CBF05C-9E3D-0D2B-329A-38EBC9C860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4EAC1D-27D0-BB5F-79FF-567FC2CBA44A}"/>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38093CF0-003E-D1E7-D3EE-A299B4B296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354294-5ACB-4853-E11C-DD2DE98F88AD}"/>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547890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6406-DBFA-2995-476B-5781EBB1B6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2F988E-CD23-7157-C3A6-5D69EFF0B9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6A1916-86E0-C139-C55B-912ACB1D7E25}"/>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5D6F81E3-C3DE-B687-19C3-C82C2F050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433F6-A267-EA8F-DE0A-7FE4868A320C}"/>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2486779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CE84E-73A8-2373-13CF-91BBFA6631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8356F6-2FA8-2F4A-11C9-1B3A751D23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1CF965-0D91-2F81-0D4A-4C65D6DA4421}"/>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50C2CACD-E094-B157-9406-6E0A4F16C2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95632A-F174-503F-1372-38BB65F78A93}"/>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2290595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857DD-91A6-3796-5B2A-5BFC2DFA6F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FDE101-8664-8960-3FD5-65A5764158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49A265-5EEB-3CE6-7C17-92DEA1343D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CB28C9-5C11-AA32-917D-25D40E20CAC2}"/>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6" name="Footer Placeholder 5">
            <a:extLst>
              <a:ext uri="{FF2B5EF4-FFF2-40B4-BE49-F238E27FC236}">
                <a16:creationId xmlns:a16="http://schemas.microsoft.com/office/drawing/2014/main" id="{737C4CE0-1B1B-37CC-E037-EC31C435D7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7D856E-5761-2D43-31DA-CEA8FE4B57A5}"/>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2573078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CDC4D-758E-71E3-D822-156549F19D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881D48-EEC7-946D-A7DB-0110F0102D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07DA8-D4F7-AA32-9B69-1300A64C0B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83669F-9584-D969-0141-A222C8A5E2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340815-7184-66DC-6E8C-2C43DA91AF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EF2C73-58FE-3ADF-E41D-320771765E95}"/>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8" name="Footer Placeholder 7">
            <a:extLst>
              <a:ext uri="{FF2B5EF4-FFF2-40B4-BE49-F238E27FC236}">
                <a16:creationId xmlns:a16="http://schemas.microsoft.com/office/drawing/2014/main" id="{F702BB81-F898-4CCD-DEFD-0687C73EF2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B1408A-48E6-1931-1748-6D1B7B8F2A28}"/>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1927986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3F8F-A2AF-CE5F-9AEF-1C3B85D6CD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914DEB-3486-26DC-BB51-3B1A0BE521AA}"/>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4" name="Footer Placeholder 3">
            <a:extLst>
              <a:ext uri="{FF2B5EF4-FFF2-40B4-BE49-F238E27FC236}">
                <a16:creationId xmlns:a16="http://schemas.microsoft.com/office/drawing/2014/main" id="{81ECB4D1-9615-C1B4-BEDB-72B56E334E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1648E5-2259-A970-AE2D-A53E40D5884D}"/>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462348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2E497-27FC-90B4-0226-D52051A2466F}"/>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3" name="Footer Placeholder 2">
            <a:extLst>
              <a:ext uri="{FF2B5EF4-FFF2-40B4-BE49-F238E27FC236}">
                <a16:creationId xmlns:a16="http://schemas.microsoft.com/office/drawing/2014/main" id="{50EB0AD3-CC21-EF31-A56D-A42FD33A47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E85E88-25A7-A5D5-6226-9A988719CDCA}"/>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29615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57D6F-EB05-C739-281B-FE037E9C9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5AAE9B-BCCC-E04E-F627-E970A14B18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78B309-D285-25F4-4437-BB695B506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D0A13B-73D7-C7FC-0502-56867F3399EA}"/>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6" name="Footer Placeholder 5">
            <a:extLst>
              <a:ext uri="{FF2B5EF4-FFF2-40B4-BE49-F238E27FC236}">
                <a16:creationId xmlns:a16="http://schemas.microsoft.com/office/drawing/2014/main" id="{876A6282-B4B0-FDDA-AF26-CE83FB95A6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78A56-25FF-C06B-6437-97218050549C}"/>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41081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E75F7-48DF-EC19-6DF7-736A561042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372F6B-88AB-6648-1558-C58C0EBE49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C6B795-C3BF-DB56-9C77-C350F6F1D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E4242D-DC1D-C7CC-09D2-B9681922F19E}"/>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6" name="Footer Placeholder 5">
            <a:extLst>
              <a:ext uri="{FF2B5EF4-FFF2-40B4-BE49-F238E27FC236}">
                <a16:creationId xmlns:a16="http://schemas.microsoft.com/office/drawing/2014/main" id="{F8F94BE5-6784-9270-8CC3-4092E9548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8545D7-5D56-0156-1F3D-F09C39551891}"/>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32116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75C5-C7B4-68DB-8DD6-5153940325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9F8435-0BE1-E973-7E47-9BA3871312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76CC55-FC3F-BCBC-EFEA-41C87F684A8D}"/>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9A752FC3-9292-7307-EC05-59EEB9DED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D213D-ADF8-0D42-F75F-B9D6539A6FBD}"/>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3215251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513788-2AD1-F2B8-EE17-B4AD905DE7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03E970-B379-B2CA-59F1-5096D59C60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BB52F-C4A2-B1D1-C63F-20119A163498}"/>
              </a:ext>
            </a:extLst>
          </p:cNvPr>
          <p:cNvSpPr>
            <a:spLocks noGrp="1"/>
          </p:cNvSpPr>
          <p:nvPr>
            <p:ph type="dt" sz="half" idx="10"/>
          </p:nvPr>
        </p:nvSpPr>
        <p:spPr/>
        <p:txBody>
          <a:body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8169060A-70E1-F6FB-8186-BA235DD9B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C28F8F-33A7-B9E1-D3E2-233D75E09D61}"/>
              </a:ext>
            </a:extLst>
          </p:cNvPr>
          <p:cNvSpPr>
            <a:spLocks noGrp="1"/>
          </p:cNvSpPr>
          <p:nvPr>
            <p:ph type="sldNum" sz="quarter" idx="12"/>
          </p:nvPr>
        </p:nvSpPr>
        <p:spPr/>
        <p:txBody>
          <a:bodyPr/>
          <a:lstStyle/>
          <a:p>
            <a:fld id="{9A99648E-980F-2042-9E42-14C014B80397}" type="slidenum">
              <a:rPr lang="en-US" smtClean="0"/>
              <a:t>‹#›</a:t>
            </a:fld>
            <a:endParaRPr lang="en-US"/>
          </a:p>
        </p:txBody>
      </p:sp>
    </p:spTree>
    <p:extLst>
      <p:ext uri="{BB962C8B-B14F-4D97-AF65-F5344CB8AC3E}">
        <p14:creationId xmlns:p14="http://schemas.microsoft.com/office/powerpoint/2010/main" val="1733885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6A4A84-680D-EEC0-C518-6589AC73A4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99D2D2-27AA-5B12-9BB7-6BBE0C3A71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2F7D23-4E5F-FD28-0852-56FD673EC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0CDBF2-6E4F-8D43-84DC-BCD35A80794B}" type="datetimeFigureOut">
              <a:rPr lang="en-US" smtClean="0"/>
              <a:t>3/6/26</a:t>
            </a:fld>
            <a:endParaRPr lang="en-US"/>
          </a:p>
        </p:txBody>
      </p:sp>
      <p:sp>
        <p:nvSpPr>
          <p:cNvPr id="5" name="Footer Placeholder 4">
            <a:extLst>
              <a:ext uri="{FF2B5EF4-FFF2-40B4-BE49-F238E27FC236}">
                <a16:creationId xmlns:a16="http://schemas.microsoft.com/office/drawing/2014/main" id="{A3988430-22B4-53DE-8C98-61162A5C04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C6DAFC-F1E5-46A8-7F4A-46922D2CE1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99648E-980F-2042-9E42-14C014B80397}" type="slidenum">
              <a:rPr lang="en-US" smtClean="0"/>
              <a:t>‹#›</a:t>
            </a:fld>
            <a:endParaRPr lang="en-US"/>
          </a:p>
        </p:txBody>
      </p:sp>
    </p:spTree>
    <p:extLst>
      <p:ext uri="{BB962C8B-B14F-4D97-AF65-F5344CB8AC3E}">
        <p14:creationId xmlns:p14="http://schemas.microsoft.com/office/powerpoint/2010/main" val="964657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5FB96E-BCBA-9723-FD44-9E579D08C7E8}"/>
              </a:ext>
            </a:extLst>
          </p:cNvPr>
          <p:cNvSpPr/>
          <p:nvPr/>
        </p:nvSpPr>
        <p:spPr>
          <a:xfrm>
            <a:off x="1324696" y="2700278"/>
            <a:ext cx="9636369" cy="84406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6F426A-DCFB-968B-4414-ED4232519EBB}"/>
              </a:ext>
            </a:extLst>
          </p:cNvPr>
          <p:cNvSpPr>
            <a:spLocks noGrp="1"/>
          </p:cNvSpPr>
          <p:nvPr>
            <p:ph type="ctrTitle"/>
          </p:nvPr>
        </p:nvSpPr>
        <p:spPr>
          <a:xfrm>
            <a:off x="1524000" y="141055"/>
            <a:ext cx="9144000" cy="2387600"/>
          </a:xfrm>
        </p:spPr>
        <p:txBody>
          <a:bodyPr/>
          <a:lstStyle/>
          <a:p>
            <a:r>
              <a:rPr lang="en-US" b="1" dirty="0" err="1">
                <a:solidFill>
                  <a:schemeClr val="accent6">
                    <a:lumMod val="50000"/>
                  </a:schemeClr>
                </a:solidFill>
              </a:rPr>
              <a:t>sust</a:t>
            </a:r>
            <a:r>
              <a:rPr lang="en-US" b="1" dirty="0">
                <a:solidFill>
                  <a:schemeClr val="accent6">
                    <a:lumMod val="50000"/>
                  </a:schemeClr>
                </a:solidFill>
              </a:rPr>
              <a:t>-AI-</a:t>
            </a:r>
            <a:r>
              <a:rPr lang="en-US" b="1" dirty="0" err="1">
                <a:solidFill>
                  <a:schemeClr val="accent6">
                    <a:lumMod val="50000"/>
                  </a:schemeClr>
                </a:solidFill>
              </a:rPr>
              <a:t>nable</a:t>
            </a:r>
            <a:endParaRPr lang="en-US" b="1" dirty="0">
              <a:solidFill>
                <a:schemeClr val="accent6">
                  <a:lumMod val="50000"/>
                </a:schemeClr>
              </a:solidFill>
            </a:endParaRPr>
          </a:p>
        </p:txBody>
      </p:sp>
      <p:sp>
        <p:nvSpPr>
          <p:cNvPr id="3" name="Subtitle 2">
            <a:extLst>
              <a:ext uri="{FF2B5EF4-FFF2-40B4-BE49-F238E27FC236}">
                <a16:creationId xmlns:a16="http://schemas.microsoft.com/office/drawing/2014/main" id="{5343669D-4B86-2FED-3C00-8C6DAC88756B}"/>
              </a:ext>
            </a:extLst>
          </p:cNvPr>
          <p:cNvSpPr>
            <a:spLocks noGrp="1"/>
          </p:cNvSpPr>
          <p:nvPr>
            <p:ph type="subTitle" idx="1"/>
          </p:nvPr>
        </p:nvSpPr>
        <p:spPr>
          <a:xfrm>
            <a:off x="1524000" y="2916238"/>
            <a:ext cx="9144000" cy="512762"/>
          </a:xfrm>
        </p:spPr>
        <p:txBody>
          <a:bodyPr>
            <a:normAutofit/>
          </a:bodyPr>
          <a:lstStyle/>
          <a:p>
            <a:r>
              <a:rPr lang="en-US" sz="2800" dirty="0">
                <a:solidFill>
                  <a:schemeClr val="bg1"/>
                </a:solidFill>
              </a:rPr>
              <a:t>Multi-Agent Cloud Carbon Optimization System</a:t>
            </a:r>
          </a:p>
        </p:txBody>
      </p:sp>
      <p:sp>
        <p:nvSpPr>
          <p:cNvPr id="4" name="Rectangle 1">
            <a:extLst>
              <a:ext uri="{FF2B5EF4-FFF2-40B4-BE49-F238E27FC236}">
                <a16:creationId xmlns:a16="http://schemas.microsoft.com/office/drawing/2014/main" id="{4846481B-50D1-2743-C804-8F633A0FD4A9}"/>
              </a:ext>
            </a:extLst>
          </p:cNvPr>
          <p:cNvSpPr>
            <a:spLocks noChangeArrowheads="1"/>
          </p:cNvSpPr>
          <p:nvPr/>
        </p:nvSpPr>
        <p:spPr bwMode="auto">
          <a:xfrm>
            <a:off x="944137" y="4408621"/>
            <a:ext cx="1030372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Arial" panose="020B0604020202020204" pitchFamily="34" charset="0"/>
              </a:rPr>
              <a:t>Problem: </a:t>
            </a:r>
            <a:r>
              <a:rPr kumimoji="0" lang="en-US" altLang="en-US" sz="2000" i="0" u="none" strike="noStrike" cap="none" normalizeH="0" baseline="0" dirty="0">
                <a:ln>
                  <a:noFill/>
                </a:ln>
                <a:solidFill>
                  <a:srgbClr val="000000"/>
                </a:solidFill>
                <a:effectLst/>
                <a:latin typeface="Arial" panose="020B0604020202020204" pitchFamily="34" charset="0"/>
              </a:rPr>
              <a:t>Cloud workloads and AI pipelines generate significant carbon emissions, yet developers and organizations lack tools that translate emissions data into actionable infrastructure decisions.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Arial" panose="020B0604020202020204" pitchFamily="34" charset="0"/>
              </a:rPr>
              <a:t>Our Goal: </a:t>
            </a:r>
            <a:r>
              <a:rPr kumimoji="0" lang="en-US" altLang="en-US" sz="2000" i="0" u="none" strike="noStrike" cap="none" normalizeH="0" baseline="0" dirty="0">
                <a:ln>
                  <a:noFill/>
                </a:ln>
                <a:solidFill>
                  <a:srgbClr val="000000"/>
                </a:solidFill>
                <a:effectLst/>
                <a:latin typeface="Arial" panose="020B0604020202020204" pitchFamily="34" charset="0"/>
              </a:rPr>
              <a:t>Build an AI-agent system that retrieves carbon data, analyzes workloads, and recommends lower-carbon execution strategies with explainable reasoning.</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E319676D-15BE-E70C-0076-AAF397C3F857}"/>
              </a:ext>
            </a:extLst>
          </p:cNvPr>
          <p:cNvSpPr>
            <a:spLocks noChangeArrowheads="1"/>
          </p:cNvSpPr>
          <p:nvPr/>
        </p:nvSpPr>
        <p:spPr bwMode="auto">
          <a:xfrm>
            <a:off x="10224582" y="312678"/>
            <a:ext cx="14729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webkit-standard"/>
              </a:rPr>
              <a:t>Checkpoint: 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Graphic 13" descr="Syncing cloud with solid fill">
            <a:extLst>
              <a:ext uri="{FF2B5EF4-FFF2-40B4-BE49-F238E27FC236}">
                <a16:creationId xmlns:a16="http://schemas.microsoft.com/office/drawing/2014/main" id="{C2D8AFAB-8E63-377C-B67B-B8A4BF4A19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21958" y="591319"/>
            <a:ext cx="2239107" cy="2239107"/>
          </a:xfrm>
          <a:prstGeom prst="rect">
            <a:avLst/>
          </a:prstGeom>
        </p:spPr>
      </p:pic>
    </p:spTree>
    <p:extLst>
      <p:ext uri="{BB962C8B-B14F-4D97-AF65-F5344CB8AC3E}">
        <p14:creationId xmlns:p14="http://schemas.microsoft.com/office/powerpoint/2010/main" val="358554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0AEFF-2810-EC53-DF61-2454D9BC50AE}"/>
              </a:ext>
            </a:extLst>
          </p:cNvPr>
          <p:cNvSpPr>
            <a:spLocks noGrp="1"/>
          </p:cNvSpPr>
          <p:nvPr>
            <p:ph idx="1"/>
          </p:nvPr>
        </p:nvSpPr>
        <p:spPr>
          <a:xfrm>
            <a:off x="838200" y="1825625"/>
            <a:ext cx="4985825" cy="551815"/>
          </a:xfrm>
        </p:spPr>
        <p:txBody>
          <a:bodyPr/>
          <a:lstStyle/>
          <a:p>
            <a:pPr marL="0" indent="0">
              <a:buNone/>
            </a:pPr>
            <a:r>
              <a:rPr lang="en-US" dirty="0"/>
              <a:t>Key Assumptions from CP1</a:t>
            </a:r>
          </a:p>
        </p:txBody>
      </p:sp>
      <p:sp>
        <p:nvSpPr>
          <p:cNvPr id="4" name="Rectangle 1">
            <a:extLst>
              <a:ext uri="{FF2B5EF4-FFF2-40B4-BE49-F238E27FC236}">
                <a16:creationId xmlns:a16="http://schemas.microsoft.com/office/drawing/2014/main" id="{F55F208A-D284-AAA0-9E39-90EA17956B97}"/>
              </a:ext>
            </a:extLst>
          </p:cNvPr>
          <p:cNvSpPr>
            <a:spLocks noGrp="1" noChangeArrowheads="1"/>
          </p:cNvSpPr>
          <p:nvPr>
            <p:ph type="title"/>
          </p:nvPr>
        </p:nvSpPr>
        <p:spPr bwMode="auto">
          <a:xfrm>
            <a:off x="838200" y="643186"/>
            <a:ext cx="72698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b="1" dirty="0">
                <a:solidFill>
                  <a:schemeClr val="accent6">
                    <a:lumMod val="50000"/>
                  </a:schemeClr>
                </a:solidFill>
              </a:rPr>
              <a:t>What We Needed to Validate: </a:t>
            </a:r>
            <a:endParaRPr kumimoji="0" lang="en-US" altLang="en-US" sz="1800" b="1" i="0" u="none" strike="noStrike" cap="none" normalizeH="0" baseline="0" dirty="0">
              <a:ln>
                <a:noFill/>
              </a:ln>
              <a:solidFill>
                <a:schemeClr val="accent6">
                  <a:lumMod val="50000"/>
                </a:schemeClr>
              </a:solidFill>
              <a:effectLst/>
              <a:latin typeface="Arial" panose="020B0604020202020204" pitchFamily="34" charset="0"/>
            </a:endParaRPr>
          </a:p>
        </p:txBody>
      </p:sp>
      <p:sp>
        <p:nvSpPr>
          <p:cNvPr id="5" name="Content Placeholder 2">
            <a:extLst>
              <a:ext uri="{FF2B5EF4-FFF2-40B4-BE49-F238E27FC236}">
                <a16:creationId xmlns:a16="http://schemas.microsoft.com/office/drawing/2014/main" id="{C6F32CA7-C804-5930-B026-0AFFFAB0477F}"/>
              </a:ext>
            </a:extLst>
          </p:cNvPr>
          <p:cNvSpPr txBox="1">
            <a:spLocks/>
          </p:cNvSpPr>
          <p:nvPr/>
        </p:nvSpPr>
        <p:spPr>
          <a:xfrm>
            <a:off x="838199" y="3939437"/>
            <a:ext cx="4985825" cy="551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Validation Methods</a:t>
            </a:r>
          </a:p>
        </p:txBody>
      </p:sp>
      <p:sp>
        <p:nvSpPr>
          <p:cNvPr id="8" name="Rectangle 3">
            <a:extLst>
              <a:ext uri="{FF2B5EF4-FFF2-40B4-BE49-F238E27FC236}">
                <a16:creationId xmlns:a16="http://schemas.microsoft.com/office/drawing/2014/main" id="{21119EB4-9C2B-7334-9FC6-88B8895BCF8F}"/>
              </a:ext>
            </a:extLst>
          </p:cNvPr>
          <p:cNvSpPr>
            <a:spLocks noChangeArrowheads="1"/>
          </p:cNvSpPr>
          <p:nvPr/>
        </p:nvSpPr>
        <p:spPr bwMode="auto">
          <a:xfrm>
            <a:off x="838198" y="4491252"/>
            <a:ext cx="49858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Pilot interviews with developers and governance stakeholders</a:t>
            </a:r>
            <a:endParaRPr lang="en-US" altLang="en-US" dirty="0">
              <a:latin typeface="-webkit-standard"/>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Prompt experiments using LLM tools</a:t>
            </a:r>
            <a:endParaRPr lang="en-US" altLang="en-US" dirty="0">
              <a:latin typeface="-webkit-standard"/>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Prototype dashboard simulation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extLst>
              <a:ext uri="{FF2B5EF4-FFF2-40B4-BE49-F238E27FC236}">
                <a16:creationId xmlns:a16="http://schemas.microsoft.com/office/drawing/2014/main" id="{5427BB62-DC39-8117-4797-7F0E5645DDD6}"/>
              </a:ext>
            </a:extLst>
          </p:cNvPr>
          <p:cNvSpPr>
            <a:spLocks noChangeArrowheads="1"/>
          </p:cNvSpPr>
          <p:nvPr/>
        </p:nvSpPr>
        <p:spPr bwMode="auto">
          <a:xfrm>
            <a:off x="838200" y="2492874"/>
            <a:ext cx="1002205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i="0" u="none" strike="noStrike" cap="none" normalizeH="0" baseline="0" dirty="0">
                <a:ln>
                  <a:noFill/>
                </a:ln>
                <a:solidFill>
                  <a:srgbClr val="000000"/>
                </a:solidFill>
                <a:effectLst/>
                <a:latin typeface="Arial" panose="020B0604020202020204" pitchFamily="34" charset="0"/>
              </a:rPr>
              <a:t>Developers would benefit from carbon-aware infrastructure recommendations</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i="0" u="none" strike="noStrike" cap="none" normalizeH="0" baseline="0" dirty="0">
                <a:ln>
                  <a:noFill/>
                </a:ln>
                <a:solidFill>
                  <a:srgbClr val="000000"/>
                </a:solidFill>
                <a:effectLst/>
                <a:latin typeface="Arial" panose="020B0604020202020204" pitchFamily="34" charset="0"/>
              </a:rPr>
              <a:t>Sustainability dashboards are too complex for decision making</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800" i="0" u="none" strike="noStrike" cap="none" normalizeH="0" baseline="0" dirty="0">
                <a:ln>
                  <a:noFill/>
                </a:ln>
                <a:solidFill>
                  <a:srgbClr val="000000"/>
                </a:solidFill>
                <a:effectLst/>
                <a:latin typeface="Arial" panose="020B0604020202020204" pitchFamily="34" charset="0"/>
              </a:rPr>
              <a:t>AI agents could assist in reasoning about sustainability trade-offs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pic>
        <p:nvPicPr>
          <p:cNvPr id="12" name="Graphic 11" descr="Cheers outline">
            <a:extLst>
              <a:ext uri="{FF2B5EF4-FFF2-40B4-BE49-F238E27FC236}">
                <a16:creationId xmlns:a16="http://schemas.microsoft.com/office/drawing/2014/main" id="{FFFFA0B3-C692-BC67-1C5F-8BD27C5D50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42141" y="3416204"/>
            <a:ext cx="3230815" cy="3230815"/>
          </a:xfrm>
          <a:prstGeom prst="rect">
            <a:avLst/>
          </a:prstGeom>
        </p:spPr>
      </p:pic>
    </p:spTree>
    <p:extLst>
      <p:ext uri="{BB962C8B-B14F-4D97-AF65-F5344CB8AC3E}">
        <p14:creationId xmlns:p14="http://schemas.microsoft.com/office/powerpoint/2010/main" val="2279836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92527-7943-4592-F19B-8A076DE25EA5}"/>
              </a:ext>
            </a:extLst>
          </p:cNvPr>
          <p:cNvSpPr>
            <a:spLocks noGrp="1"/>
          </p:cNvSpPr>
          <p:nvPr>
            <p:ph type="title"/>
          </p:nvPr>
        </p:nvSpPr>
        <p:spPr>
          <a:xfrm>
            <a:off x="838200" y="117790"/>
            <a:ext cx="10515600" cy="1325563"/>
          </a:xfrm>
        </p:spPr>
        <p:txBody>
          <a:bodyPr/>
          <a:lstStyle/>
          <a:p>
            <a:r>
              <a:rPr lang="en-US" b="1" dirty="0">
                <a:solidFill>
                  <a:schemeClr val="accent6">
                    <a:lumMod val="50000"/>
                  </a:schemeClr>
                </a:solidFill>
              </a:rPr>
              <a:t>Prompting Protocol &amp; Validation Design</a:t>
            </a:r>
          </a:p>
        </p:txBody>
      </p:sp>
      <p:sp>
        <p:nvSpPr>
          <p:cNvPr id="3" name="Content Placeholder 2">
            <a:extLst>
              <a:ext uri="{FF2B5EF4-FFF2-40B4-BE49-F238E27FC236}">
                <a16:creationId xmlns:a16="http://schemas.microsoft.com/office/drawing/2014/main" id="{9BCBFD60-8528-F7DF-A9CB-3EAEE133CB66}"/>
              </a:ext>
            </a:extLst>
          </p:cNvPr>
          <p:cNvSpPr>
            <a:spLocks noGrp="1"/>
          </p:cNvSpPr>
          <p:nvPr>
            <p:ph idx="1"/>
          </p:nvPr>
        </p:nvSpPr>
        <p:spPr>
          <a:xfrm>
            <a:off x="6647280" y="4260159"/>
            <a:ext cx="4226169" cy="551815"/>
          </a:xfrm>
        </p:spPr>
        <p:txBody>
          <a:bodyPr/>
          <a:lstStyle/>
          <a:p>
            <a:pPr marL="0" indent="0">
              <a:buNone/>
            </a:pPr>
            <a:r>
              <a:rPr lang="en-US" b="1" dirty="0"/>
              <a:t>Prompt Categories</a:t>
            </a:r>
          </a:p>
        </p:txBody>
      </p:sp>
      <p:sp>
        <p:nvSpPr>
          <p:cNvPr id="5" name="Content Placeholder 2">
            <a:extLst>
              <a:ext uri="{FF2B5EF4-FFF2-40B4-BE49-F238E27FC236}">
                <a16:creationId xmlns:a16="http://schemas.microsoft.com/office/drawing/2014/main" id="{65CE0413-AFFA-3C4B-68FC-F7D053692529}"/>
              </a:ext>
            </a:extLst>
          </p:cNvPr>
          <p:cNvSpPr txBox="1">
            <a:spLocks/>
          </p:cNvSpPr>
          <p:nvPr/>
        </p:nvSpPr>
        <p:spPr>
          <a:xfrm>
            <a:off x="540434" y="1656643"/>
            <a:ext cx="4226169" cy="5518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AI Tools Tested</a:t>
            </a:r>
          </a:p>
        </p:txBody>
      </p:sp>
      <p:sp>
        <p:nvSpPr>
          <p:cNvPr id="9" name="Rectangle 4">
            <a:extLst>
              <a:ext uri="{FF2B5EF4-FFF2-40B4-BE49-F238E27FC236}">
                <a16:creationId xmlns:a16="http://schemas.microsoft.com/office/drawing/2014/main" id="{C0B064F5-8AB1-0539-A466-FE8D1FCA21FF}"/>
              </a:ext>
            </a:extLst>
          </p:cNvPr>
          <p:cNvSpPr>
            <a:spLocks noChangeArrowheads="1"/>
          </p:cNvSpPr>
          <p:nvPr/>
        </p:nvSpPr>
        <p:spPr bwMode="auto">
          <a:xfrm>
            <a:off x="540434" y="2208458"/>
            <a:ext cx="538206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lvl="0" indent="-285750">
              <a:buFont typeface="Wingdings" pitchFamily="2" charset="2"/>
              <a:buChar char="ü"/>
            </a:pPr>
            <a:r>
              <a:rPr kumimoji="0" lang="en-US" altLang="en-US" sz="1800" b="0" i="0" u="none" strike="noStrike" cap="none" normalizeH="0" baseline="0" dirty="0">
                <a:ln>
                  <a:noFill/>
                </a:ln>
                <a:solidFill>
                  <a:srgbClr val="000000"/>
                </a:solidFill>
                <a:effectLst/>
                <a:latin typeface="Arial" panose="020B0604020202020204" pitchFamily="34" charset="0"/>
              </a:rPr>
              <a:t>Cursor – system architecture &amp; simulation data</a:t>
            </a:r>
            <a:endParaRPr lang="en-US" altLang="en-US" dirty="0"/>
          </a:p>
          <a:p>
            <a:pPr marL="285750" lvl="0" indent="-285750">
              <a:buFont typeface="Wingdings" pitchFamily="2" charset="2"/>
              <a:buChar char="ü"/>
            </a:pPr>
            <a:r>
              <a:rPr kumimoji="0" lang="en-US" altLang="en-US" sz="1800" b="0" i="0" u="none" strike="noStrike" cap="none" normalizeH="0" baseline="0" dirty="0">
                <a:ln>
                  <a:noFill/>
                </a:ln>
                <a:solidFill>
                  <a:srgbClr val="000000"/>
                </a:solidFill>
                <a:effectLst/>
                <a:latin typeface="Arial" panose="020B0604020202020204" pitchFamily="34" charset="0"/>
              </a:rPr>
              <a:t>GitHub Copilot – debugging multi-agent pipeline</a:t>
            </a:r>
            <a:endParaRPr lang="en-US" altLang="en-US" dirty="0"/>
          </a:p>
          <a:p>
            <a:pPr marL="285750" lvl="0" indent="-285750">
              <a:buFont typeface="Wingdings" pitchFamily="2" charset="2"/>
              <a:buChar char="ü"/>
            </a:pPr>
            <a:r>
              <a:rPr kumimoji="0" lang="en-US" altLang="en-US" sz="1800" b="0" i="0" u="none" strike="noStrike" cap="none" normalizeH="0" baseline="0" dirty="0">
                <a:ln>
                  <a:noFill/>
                </a:ln>
                <a:solidFill>
                  <a:srgbClr val="000000"/>
                </a:solidFill>
                <a:effectLst/>
                <a:latin typeface="Arial" panose="020B0604020202020204" pitchFamily="34" charset="0"/>
              </a:rPr>
              <a:t>NotebookLM – research synthesis</a:t>
            </a:r>
            <a:r>
              <a:rPr lang="en-US" altLang="en-US" dirty="0">
                <a:solidFill>
                  <a:srgbClr val="000000"/>
                </a:solidFill>
              </a:rPr>
              <a:t> </a:t>
            </a:r>
          </a:p>
          <a:p>
            <a:pPr marL="285750" lvl="0" indent="-285750">
              <a:buFont typeface="Wingdings" pitchFamily="2" charset="2"/>
              <a:buChar char="ü"/>
            </a:pPr>
            <a:r>
              <a:rPr lang="en-US" altLang="en-US" dirty="0">
                <a:solidFill>
                  <a:srgbClr val="000000"/>
                </a:solidFill>
              </a:rPr>
              <a:t>ChatGPT – sustainability reasoning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72F3848D-A92E-FDD7-E8E4-3B5E88FABA0D}"/>
              </a:ext>
            </a:extLst>
          </p:cNvPr>
          <p:cNvSpPr txBox="1"/>
          <p:nvPr/>
        </p:nvSpPr>
        <p:spPr>
          <a:xfrm>
            <a:off x="6647280" y="4876451"/>
            <a:ext cx="5177496" cy="1754326"/>
          </a:xfrm>
          <a:prstGeom prst="rect">
            <a:avLst/>
          </a:prstGeom>
          <a:noFill/>
        </p:spPr>
        <p:txBody>
          <a:bodyPr wrap="square">
            <a:spAutoFit/>
          </a:bodyPr>
          <a:lstStyle/>
          <a:p>
            <a:r>
              <a:rPr lang="en-US" b="0" i="0" u="none" strike="noStrike" dirty="0">
                <a:solidFill>
                  <a:srgbClr val="000000"/>
                </a:solidFill>
                <a:effectLst/>
              </a:rPr>
              <a:t>Typical Case: Carbon-aware workload scheduling</a:t>
            </a:r>
            <a:br>
              <a:rPr lang="en-US" dirty="0"/>
            </a:br>
            <a:br>
              <a:rPr lang="en-US" dirty="0"/>
            </a:br>
            <a:r>
              <a:rPr lang="en-US" b="0" i="0" u="none" strike="noStrike" dirty="0">
                <a:solidFill>
                  <a:srgbClr val="000000"/>
                </a:solidFill>
                <a:effectLst/>
              </a:rPr>
              <a:t>Edge Case:</a:t>
            </a:r>
            <a:r>
              <a:rPr lang="en-US" dirty="0">
                <a:solidFill>
                  <a:srgbClr val="000000"/>
                </a:solidFill>
              </a:rPr>
              <a:t> </a:t>
            </a:r>
            <a:r>
              <a:rPr lang="en-US" b="0" i="0" u="none" strike="noStrike" dirty="0">
                <a:solidFill>
                  <a:srgbClr val="000000"/>
                </a:solidFill>
                <a:effectLst/>
              </a:rPr>
              <a:t>Cost vs carbon trade-off reasoning</a:t>
            </a:r>
            <a:br>
              <a:rPr lang="en-US" dirty="0"/>
            </a:br>
            <a:br>
              <a:rPr lang="en-US" dirty="0"/>
            </a:br>
            <a:r>
              <a:rPr lang="en-US" b="0" i="0" u="none" strike="noStrike" dirty="0">
                <a:solidFill>
                  <a:srgbClr val="000000"/>
                </a:solidFill>
                <a:effectLst/>
              </a:rPr>
              <a:t>Failure Case: 30-day multi-agent simulation</a:t>
            </a:r>
            <a:br>
              <a:rPr lang="en-US" dirty="0"/>
            </a:br>
            <a:endParaRPr lang="en-US" dirty="0"/>
          </a:p>
        </p:txBody>
      </p:sp>
      <p:pic>
        <p:nvPicPr>
          <p:cNvPr id="16" name="Graphic 15" descr="Renewable Energy with solid fill">
            <a:extLst>
              <a:ext uri="{FF2B5EF4-FFF2-40B4-BE49-F238E27FC236}">
                <a16:creationId xmlns:a16="http://schemas.microsoft.com/office/drawing/2014/main" id="{D8CEDA95-D4D8-EF25-BEC6-A09CEE2E6F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50905" y="1389869"/>
            <a:ext cx="2018918" cy="2018918"/>
          </a:xfrm>
          <a:prstGeom prst="rect">
            <a:avLst/>
          </a:prstGeom>
        </p:spPr>
      </p:pic>
      <p:pic>
        <p:nvPicPr>
          <p:cNvPr id="18" name="Graphic 17" descr="Gears with solid fill">
            <a:extLst>
              <a:ext uri="{FF2B5EF4-FFF2-40B4-BE49-F238E27FC236}">
                <a16:creationId xmlns:a16="http://schemas.microsoft.com/office/drawing/2014/main" id="{28C9C756-2226-FCDF-B24C-7977A16FD6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99803" y="3948160"/>
            <a:ext cx="2506394" cy="2506394"/>
          </a:xfrm>
          <a:prstGeom prst="rect">
            <a:avLst/>
          </a:prstGeom>
        </p:spPr>
      </p:pic>
    </p:spTree>
    <p:extLst>
      <p:ext uri="{BB962C8B-B14F-4D97-AF65-F5344CB8AC3E}">
        <p14:creationId xmlns:p14="http://schemas.microsoft.com/office/powerpoint/2010/main" val="7349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B2AB-07C8-25EF-3247-03B104B6DA80}"/>
              </a:ext>
            </a:extLst>
          </p:cNvPr>
          <p:cNvSpPr>
            <a:spLocks noGrp="1"/>
          </p:cNvSpPr>
          <p:nvPr>
            <p:ph type="title"/>
          </p:nvPr>
        </p:nvSpPr>
        <p:spPr/>
        <p:txBody>
          <a:bodyPr/>
          <a:lstStyle/>
          <a:p>
            <a:r>
              <a:rPr lang="en-US" b="1" dirty="0">
                <a:solidFill>
                  <a:schemeClr val="accent6">
                    <a:lumMod val="50000"/>
                  </a:schemeClr>
                </a:solidFill>
              </a:rPr>
              <a:t>Validation Reflection</a:t>
            </a:r>
          </a:p>
        </p:txBody>
      </p:sp>
      <p:graphicFrame>
        <p:nvGraphicFramePr>
          <p:cNvPr id="4" name="Content Placeholder 3">
            <a:extLst>
              <a:ext uri="{FF2B5EF4-FFF2-40B4-BE49-F238E27FC236}">
                <a16:creationId xmlns:a16="http://schemas.microsoft.com/office/drawing/2014/main" id="{2F0DB9CE-ABBE-909E-1A98-A3977F200431}"/>
              </a:ext>
            </a:extLst>
          </p:cNvPr>
          <p:cNvGraphicFramePr>
            <a:graphicFrameLocks noGrp="1"/>
          </p:cNvGraphicFramePr>
          <p:nvPr>
            <p:ph idx="1"/>
            <p:extLst>
              <p:ext uri="{D42A27DB-BD31-4B8C-83A1-F6EECF244321}">
                <p14:modId xmlns:p14="http://schemas.microsoft.com/office/powerpoint/2010/main" val="3810399773"/>
              </p:ext>
            </p:extLst>
          </p:nvPr>
        </p:nvGraphicFramePr>
        <p:xfrm>
          <a:off x="838200" y="1555115"/>
          <a:ext cx="10515600" cy="5059680"/>
        </p:xfrm>
        <a:graphic>
          <a:graphicData uri="http://schemas.openxmlformats.org/drawingml/2006/table">
            <a:tbl>
              <a:tblPr firstRow="1" bandRow="1">
                <a:tableStyleId>{EB344D84-9AFB-497E-A393-DC336BA19D2E}</a:tableStyleId>
              </a:tblPr>
              <a:tblGrid>
                <a:gridCol w="2628900">
                  <a:extLst>
                    <a:ext uri="{9D8B030D-6E8A-4147-A177-3AD203B41FA5}">
                      <a16:colId xmlns:a16="http://schemas.microsoft.com/office/drawing/2014/main" val="1146625149"/>
                    </a:ext>
                  </a:extLst>
                </a:gridCol>
                <a:gridCol w="2628900">
                  <a:extLst>
                    <a:ext uri="{9D8B030D-6E8A-4147-A177-3AD203B41FA5}">
                      <a16:colId xmlns:a16="http://schemas.microsoft.com/office/drawing/2014/main" val="1571709245"/>
                    </a:ext>
                  </a:extLst>
                </a:gridCol>
                <a:gridCol w="2628900">
                  <a:extLst>
                    <a:ext uri="{9D8B030D-6E8A-4147-A177-3AD203B41FA5}">
                      <a16:colId xmlns:a16="http://schemas.microsoft.com/office/drawing/2014/main" val="3390612780"/>
                    </a:ext>
                  </a:extLst>
                </a:gridCol>
                <a:gridCol w="2628900">
                  <a:extLst>
                    <a:ext uri="{9D8B030D-6E8A-4147-A177-3AD203B41FA5}">
                      <a16:colId xmlns:a16="http://schemas.microsoft.com/office/drawing/2014/main" val="324372746"/>
                    </a:ext>
                  </a:extLst>
                </a:gridCol>
              </a:tblGrid>
              <a:tr h="234217">
                <a:tc>
                  <a:txBody>
                    <a:bodyPr/>
                    <a:lstStyle/>
                    <a:p>
                      <a:pPr algn="ctr"/>
                      <a:r>
                        <a:rPr lang="en-US" sz="1600" b="1" i="0" u="none" strike="noStrike" kern="1200" dirty="0">
                          <a:solidFill>
                            <a:schemeClr val="lt1"/>
                          </a:solidFill>
                          <a:effectLst/>
                          <a:latin typeface="+mn-lt"/>
                          <a:ea typeface="+mn-ea"/>
                          <a:cs typeface="+mn-cs"/>
                        </a:rPr>
                        <a:t>Team Member</a:t>
                      </a:r>
                      <a:endParaRPr lang="en-US" sz="16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kern="1200" dirty="0">
                          <a:solidFill>
                            <a:schemeClr val="lt1"/>
                          </a:solidFill>
                          <a:effectLst/>
                          <a:latin typeface="+mn-lt"/>
                          <a:ea typeface="+mn-ea"/>
                          <a:cs typeface="+mn-cs"/>
                        </a:rPr>
                        <a:t>Contribution</a:t>
                      </a:r>
                      <a:endParaRPr lang="en-US" sz="1600" b="1" dirty="0"/>
                    </a:p>
                    <a:p>
                      <a:pPr algn="ctr"/>
                      <a:endParaRPr lang="en-US" sz="1600" b="1" dirty="0"/>
                    </a:p>
                  </a:txBody>
                  <a:tcPr/>
                </a:tc>
                <a:tc>
                  <a:txBody>
                    <a:bodyPr/>
                    <a:lstStyle/>
                    <a:p>
                      <a:pPr algn="ctr"/>
                      <a:r>
                        <a:rPr lang="en-US" sz="1600" b="1" i="0" u="none" strike="noStrike" kern="1200" dirty="0">
                          <a:solidFill>
                            <a:schemeClr val="lt1"/>
                          </a:solidFill>
                          <a:effectLst/>
                          <a:latin typeface="+mn-lt"/>
                          <a:ea typeface="+mn-ea"/>
                          <a:cs typeface="+mn-cs"/>
                        </a:rPr>
                        <a:t>Key Insights</a:t>
                      </a:r>
                      <a:endParaRPr lang="en-US" sz="1600" b="1" dirty="0"/>
                    </a:p>
                  </a:txBody>
                  <a:tcPr/>
                </a:tc>
                <a:tc>
                  <a:txBody>
                    <a:bodyPr/>
                    <a:lstStyle/>
                    <a:p>
                      <a:pPr algn="ctr"/>
                      <a:r>
                        <a:rPr lang="en-US" sz="1600" b="1" i="0" u="none" strike="noStrike" kern="1200" dirty="0">
                          <a:solidFill>
                            <a:schemeClr val="lt1"/>
                          </a:solidFill>
                          <a:effectLst/>
                          <a:latin typeface="+mn-lt"/>
                          <a:ea typeface="+mn-ea"/>
                          <a:cs typeface="+mn-cs"/>
                        </a:rPr>
                        <a:t>Design Impact</a:t>
                      </a:r>
                      <a:endParaRPr lang="en-US" sz="1600" b="1" dirty="0"/>
                    </a:p>
                  </a:txBody>
                  <a:tcPr/>
                </a:tc>
                <a:extLst>
                  <a:ext uri="{0D108BD9-81ED-4DB2-BD59-A6C34878D82A}">
                    <a16:rowId xmlns:a16="http://schemas.microsoft.com/office/drawing/2014/main" val="2481614237"/>
                  </a:ext>
                </a:extLst>
              </a:tr>
              <a:tr h="370840">
                <a:tc>
                  <a:txBody>
                    <a:bodyPr/>
                    <a:lstStyle/>
                    <a:p>
                      <a:pPr algn="ctr"/>
                      <a:r>
                        <a:rPr lang="en-US" sz="1200" b="0" i="0" u="none" strike="noStrike" kern="1200" dirty="0">
                          <a:solidFill>
                            <a:schemeClr val="dk1"/>
                          </a:solidFill>
                          <a:effectLst/>
                          <a:latin typeface="+mn-lt"/>
                          <a:ea typeface="+mn-ea"/>
                          <a:cs typeface="+mn-cs"/>
                        </a:rPr>
                        <a:t>Pooja </a:t>
                      </a:r>
                      <a:endParaRPr lang="en-US" sz="1200" dirty="0"/>
                    </a:p>
                  </a:txBody>
                  <a:tcPr/>
                </a:tc>
                <a:tc>
                  <a:txBody>
                    <a:bodyPr/>
                    <a:lstStyle/>
                    <a:p>
                      <a:pPr algn="l"/>
                      <a:r>
                        <a:rPr lang="en-US" sz="1200" b="0" i="0" u="none" strike="noStrike" kern="1200" dirty="0">
                          <a:solidFill>
                            <a:schemeClr val="dk1"/>
                          </a:solidFill>
                          <a:effectLst/>
                          <a:latin typeface="+mn-lt"/>
                          <a:ea typeface="+mn-ea"/>
                          <a:cs typeface="+mn-cs"/>
                        </a:rPr>
                        <a:t>Professional interviews with cloud engineers, governance professionals, and AI developers</a:t>
                      </a:r>
                      <a:endParaRPr lang="en-US" sz="1200" dirty="0"/>
                    </a:p>
                  </a:txBody>
                  <a:tcPr/>
                </a:tc>
                <a:tc>
                  <a:txBody>
                    <a:bodyPr/>
                    <a:lstStyle/>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Sustainability is rarely considered during system design because existing tools are retrospective and difficult to interpret. </a:t>
                      </a:r>
                    </a:p>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Engineers lack visibility into energy impact and developers receive no feedback on carbon impact.</a:t>
                      </a:r>
                      <a:endParaRPr lang="en-US" sz="1200" dirty="0"/>
                    </a:p>
                  </a:txBody>
                  <a:tcPr/>
                </a:tc>
                <a:tc>
                  <a:txBody>
                    <a:bodyPr/>
                    <a:lstStyle/>
                    <a:p>
                      <a:pPr algn="l"/>
                      <a:r>
                        <a:rPr lang="en-US" sz="1200" b="1" i="0" u="none" strike="noStrike" kern="1200" dirty="0">
                          <a:solidFill>
                            <a:schemeClr val="dk1"/>
                          </a:solidFill>
                          <a:effectLst/>
                          <a:latin typeface="+mn-lt"/>
                          <a:ea typeface="+mn-ea"/>
                          <a:cs typeface="+mn-cs"/>
                        </a:rPr>
                        <a:t>Led to the idea of real-time sustainability decision support integrated into engineering workflows.</a:t>
                      </a:r>
                      <a:endParaRPr lang="en-US" sz="1200" b="1" dirty="0"/>
                    </a:p>
                  </a:txBody>
                  <a:tcPr/>
                </a:tc>
                <a:extLst>
                  <a:ext uri="{0D108BD9-81ED-4DB2-BD59-A6C34878D82A}">
                    <a16:rowId xmlns:a16="http://schemas.microsoft.com/office/drawing/2014/main" val="4255788202"/>
                  </a:ext>
                </a:extLst>
              </a:tr>
              <a:tr h="370840">
                <a:tc>
                  <a:txBody>
                    <a:bodyPr/>
                    <a:lstStyle/>
                    <a:p>
                      <a:pPr algn="ctr"/>
                      <a:r>
                        <a:rPr lang="en-US" sz="1200" dirty="0"/>
                        <a:t>Sarthak</a:t>
                      </a:r>
                    </a:p>
                  </a:txBody>
                  <a:tcPr/>
                </a:tc>
                <a:tc>
                  <a:txBody>
                    <a:bodyPr/>
                    <a:lstStyle/>
                    <a:p>
                      <a:pPr algn="l"/>
                      <a:r>
                        <a:rPr lang="en-US" sz="1200" b="0" i="0" u="none" strike="noStrike" kern="1200" dirty="0">
                          <a:solidFill>
                            <a:schemeClr val="dk1"/>
                          </a:solidFill>
                          <a:effectLst/>
                          <a:latin typeface="+mn-lt"/>
                          <a:ea typeface="+mn-ea"/>
                          <a:cs typeface="+mn-cs"/>
                        </a:rPr>
                        <a:t>Industry interviews with data engineers and risk professionals</a:t>
                      </a:r>
                      <a:endParaRPr lang="en-US" sz="1200" dirty="0"/>
                    </a:p>
                  </a:txBody>
                  <a:tcPr/>
                </a:tc>
                <a:tc>
                  <a:txBody>
                    <a:bodyPr/>
                    <a:lstStyle/>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Carbon data is fragmented across infrastructure layers and difficult to retrieve. </a:t>
                      </a:r>
                    </a:p>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Existing tools lack developer-focused sustainability guidance and natural language interfaces.</a:t>
                      </a:r>
                      <a:endParaRPr lang="en-US" sz="1200" dirty="0"/>
                    </a:p>
                  </a:txBody>
                  <a:tcPr/>
                </a:tc>
                <a:tc>
                  <a:txBody>
                    <a:bodyPr/>
                    <a:lstStyle/>
                    <a:p>
                      <a:pPr algn="l">
                        <a:buNone/>
                      </a:pPr>
                      <a:r>
                        <a:rPr lang="en-US" sz="1200" b="1" dirty="0"/>
                        <a:t>Motivated the use of a multi-agent system capable of retrieving emissions data and generating recommendations.</a:t>
                      </a:r>
                    </a:p>
                  </a:txBody>
                  <a:tcPr anchor="ctr"/>
                </a:tc>
                <a:extLst>
                  <a:ext uri="{0D108BD9-81ED-4DB2-BD59-A6C34878D82A}">
                    <a16:rowId xmlns:a16="http://schemas.microsoft.com/office/drawing/2014/main" val="4190958941"/>
                  </a:ext>
                </a:extLst>
              </a:tr>
              <a:tr h="370840">
                <a:tc>
                  <a:txBody>
                    <a:bodyPr/>
                    <a:lstStyle/>
                    <a:p>
                      <a:pPr algn="ctr"/>
                      <a:r>
                        <a:rPr lang="en-US" sz="1200" dirty="0"/>
                        <a:t>Josue</a:t>
                      </a:r>
                    </a:p>
                  </a:txBody>
                  <a:tcPr/>
                </a:tc>
                <a:tc>
                  <a:txBody>
                    <a:bodyPr/>
                    <a:lstStyle/>
                    <a:p>
                      <a:pPr algn="l"/>
                      <a:r>
                        <a:rPr lang="en-US" sz="1200" b="0" i="0" u="none" strike="noStrike" kern="1200" dirty="0">
                          <a:solidFill>
                            <a:schemeClr val="dk1"/>
                          </a:solidFill>
                          <a:effectLst/>
                          <a:latin typeface="+mn-lt"/>
                          <a:ea typeface="+mn-ea"/>
                          <a:cs typeface="+mn-cs"/>
                        </a:rPr>
                        <a:t>User interviews on carbon awareness and footprint tools</a:t>
                      </a:r>
                      <a:endParaRPr lang="en-US" sz="1200" dirty="0"/>
                    </a:p>
                  </a:txBody>
                  <a:tcPr/>
                </a:tc>
                <a:tc>
                  <a:txBody>
                    <a:bodyPr/>
                    <a:lstStyle/>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Users care about environmental impact but rarely calculate their carbon footprint because tools require too much data and lack transparency. </a:t>
                      </a:r>
                    </a:p>
                    <a:p>
                      <a:pPr marL="171450" indent="-171450" algn="l">
                        <a:buFont typeface="Arial" panose="020B0604020202020204" pitchFamily="34" charset="0"/>
                        <a:buChar char="•"/>
                      </a:pPr>
                      <a:r>
                        <a:rPr lang="en-US" sz="1200" b="0" i="0" u="none" strike="noStrike" kern="1200" dirty="0">
                          <a:solidFill>
                            <a:schemeClr val="dk1"/>
                          </a:solidFill>
                          <a:effectLst/>
                          <a:latin typeface="+mn-lt"/>
                          <a:ea typeface="+mn-ea"/>
                          <a:cs typeface="+mn-cs"/>
                        </a:rPr>
                        <a:t>Participants preferred simple inputs and actionable recommendations rather than just emissions numbers.</a:t>
                      </a:r>
                      <a:endParaRPr lang="en-US" sz="1200" dirty="0"/>
                    </a:p>
                  </a:txBody>
                  <a:tcPr/>
                </a:tc>
                <a:tc>
                  <a:txBody>
                    <a:bodyPr/>
                    <a:lstStyle/>
                    <a:p>
                      <a:pPr algn="l"/>
                      <a:r>
                        <a:rPr lang="en-US" sz="1200" b="1" i="0" u="none" strike="noStrike" kern="1200" dirty="0">
                          <a:solidFill>
                            <a:schemeClr val="dk1"/>
                          </a:solidFill>
                          <a:effectLst/>
                          <a:latin typeface="+mn-lt"/>
                          <a:ea typeface="+mn-ea"/>
                          <a:cs typeface="+mn-cs"/>
                        </a:rPr>
                        <a:t>Reinforced the need for simple interaction and explainable recommendations rather than complex dashboards.</a:t>
                      </a:r>
                      <a:endParaRPr lang="en-US" sz="1200" b="1" dirty="0"/>
                    </a:p>
                  </a:txBody>
                  <a:tcPr/>
                </a:tc>
                <a:extLst>
                  <a:ext uri="{0D108BD9-81ED-4DB2-BD59-A6C34878D82A}">
                    <a16:rowId xmlns:a16="http://schemas.microsoft.com/office/drawing/2014/main" val="3065701148"/>
                  </a:ext>
                </a:extLst>
              </a:tr>
            </a:tbl>
          </a:graphicData>
        </a:graphic>
      </p:graphicFrame>
    </p:spTree>
    <p:extLst>
      <p:ext uri="{BB962C8B-B14F-4D97-AF65-F5344CB8AC3E}">
        <p14:creationId xmlns:p14="http://schemas.microsoft.com/office/powerpoint/2010/main" val="3057486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DB17-5950-2E8A-5AA7-3F5AC8E43255}"/>
              </a:ext>
            </a:extLst>
          </p:cNvPr>
          <p:cNvSpPr>
            <a:spLocks noGrp="1"/>
          </p:cNvSpPr>
          <p:nvPr>
            <p:ph type="title"/>
          </p:nvPr>
        </p:nvSpPr>
        <p:spPr/>
        <p:txBody>
          <a:bodyPr/>
          <a:lstStyle/>
          <a:p>
            <a:r>
              <a:rPr lang="en-US" b="1" dirty="0">
                <a:solidFill>
                  <a:schemeClr val="accent6">
                    <a:lumMod val="50000"/>
                  </a:schemeClr>
                </a:solidFill>
              </a:rPr>
              <a:t>Evidence</a:t>
            </a:r>
          </a:p>
        </p:txBody>
      </p:sp>
      <p:sp>
        <p:nvSpPr>
          <p:cNvPr id="3" name="Content Placeholder 2">
            <a:extLst>
              <a:ext uri="{FF2B5EF4-FFF2-40B4-BE49-F238E27FC236}">
                <a16:creationId xmlns:a16="http://schemas.microsoft.com/office/drawing/2014/main" id="{7222076B-F4FA-0A47-4D3E-7691E7814919}"/>
              </a:ext>
            </a:extLst>
          </p:cNvPr>
          <p:cNvSpPr>
            <a:spLocks noGrp="1"/>
          </p:cNvSpPr>
          <p:nvPr>
            <p:ph idx="1"/>
          </p:nvPr>
        </p:nvSpPr>
        <p:spPr>
          <a:xfrm>
            <a:off x="838200" y="2011989"/>
            <a:ext cx="3114822" cy="495544"/>
          </a:xfrm>
        </p:spPr>
        <p:txBody>
          <a:bodyPr/>
          <a:lstStyle/>
          <a:p>
            <a:pPr marL="0" indent="0">
              <a:buNone/>
            </a:pPr>
            <a:r>
              <a:rPr lang="en-US" dirty="0"/>
              <a:t>What Worked?</a:t>
            </a:r>
          </a:p>
        </p:txBody>
      </p:sp>
      <p:sp>
        <p:nvSpPr>
          <p:cNvPr id="4" name="Content Placeholder 2">
            <a:extLst>
              <a:ext uri="{FF2B5EF4-FFF2-40B4-BE49-F238E27FC236}">
                <a16:creationId xmlns:a16="http://schemas.microsoft.com/office/drawing/2014/main" id="{598059E2-29D0-0BCB-B2E1-24BD433E65E5}"/>
              </a:ext>
            </a:extLst>
          </p:cNvPr>
          <p:cNvSpPr txBox="1">
            <a:spLocks/>
          </p:cNvSpPr>
          <p:nvPr/>
        </p:nvSpPr>
        <p:spPr>
          <a:xfrm>
            <a:off x="6377354" y="2011989"/>
            <a:ext cx="3114822" cy="4955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What Failed</a:t>
            </a:r>
          </a:p>
        </p:txBody>
      </p:sp>
      <p:sp>
        <p:nvSpPr>
          <p:cNvPr id="5" name="Rectangle 1">
            <a:extLst>
              <a:ext uri="{FF2B5EF4-FFF2-40B4-BE49-F238E27FC236}">
                <a16:creationId xmlns:a16="http://schemas.microsoft.com/office/drawing/2014/main" id="{BE468FB4-F70F-3DCC-E3C8-7E89AD1174EB}"/>
              </a:ext>
            </a:extLst>
          </p:cNvPr>
          <p:cNvSpPr>
            <a:spLocks noChangeArrowheads="1"/>
          </p:cNvSpPr>
          <p:nvPr/>
        </p:nvSpPr>
        <p:spPr bwMode="auto">
          <a:xfrm>
            <a:off x="6377354" y="2824025"/>
            <a:ext cx="5598940" cy="1714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lnSpc>
                <a:spcPct val="150000"/>
              </a:lnSpc>
              <a:buFont typeface="Wingdings" pitchFamily="2" charset="2"/>
              <a:buChar char="ü"/>
            </a:pPr>
            <a:r>
              <a:rPr lang="en-US" altLang="en-US" dirty="0">
                <a:solidFill>
                  <a:srgbClr val="000000"/>
                </a:solidFill>
                <a:latin typeface="-webkit-standard"/>
              </a:rPr>
              <a:t>Token limits during multi-agent simulations</a:t>
            </a:r>
          </a:p>
          <a:p>
            <a:pPr marL="285750" indent="-285750">
              <a:lnSpc>
                <a:spcPct val="150000"/>
              </a:lnSpc>
              <a:buFont typeface="Wingdings" pitchFamily="2" charset="2"/>
              <a:buChar char="ü"/>
            </a:pPr>
            <a:r>
              <a:rPr lang="en-US" altLang="en-US" dirty="0">
                <a:solidFill>
                  <a:srgbClr val="000000"/>
                </a:solidFill>
                <a:latin typeface="-webkit-standard"/>
              </a:rPr>
              <a:t>API rate limits during long orchestration cycles</a:t>
            </a:r>
          </a:p>
          <a:p>
            <a:pPr marL="285750" indent="-285750">
              <a:lnSpc>
                <a:spcPct val="150000"/>
              </a:lnSpc>
              <a:buFont typeface="Wingdings" pitchFamily="2" charset="2"/>
              <a:buChar char="ü"/>
            </a:pPr>
            <a:r>
              <a:rPr lang="en-US" altLang="en-US" dirty="0">
                <a:solidFill>
                  <a:srgbClr val="000000"/>
                </a:solidFill>
                <a:latin typeface="-webkit-standard"/>
              </a:rPr>
              <a:t>Agents repeated reasoning loops without new data</a:t>
            </a:r>
          </a:p>
          <a:p>
            <a:pPr marL="285750" indent="-285750">
              <a:lnSpc>
                <a:spcPct val="150000"/>
              </a:lnSpc>
              <a:buFont typeface="Wingdings" pitchFamily="2" charset="2"/>
              <a:buChar char="ü"/>
            </a:pPr>
            <a:r>
              <a:rPr lang="en-US" altLang="en-US" dirty="0">
                <a:solidFill>
                  <a:srgbClr val="000000"/>
                </a:solidFill>
                <a:latin typeface="-webkit-standard"/>
              </a:rPr>
              <a:t>Emission factor sources were rarely cited</a:t>
            </a:r>
          </a:p>
        </p:txBody>
      </p:sp>
      <p:sp>
        <p:nvSpPr>
          <p:cNvPr id="6" name="Rectangle 2">
            <a:extLst>
              <a:ext uri="{FF2B5EF4-FFF2-40B4-BE49-F238E27FC236}">
                <a16:creationId xmlns:a16="http://schemas.microsoft.com/office/drawing/2014/main" id="{C1E8E740-BE31-6591-EF51-E217E36631F1}"/>
              </a:ext>
            </a:extLst>
          </p:cNvPr>
          <p:cNvSpPr>
            <a:spLocks noChangeArrowheads="1"/>
          </p:cNvSpPr>
          <p:nvPr/>
        </p:nvSpPr>
        <p:spPr bwMode="auto">
          <a:xfrm>
            <a:off x="838200" y="2828834"/>
            <a:ext cx="5126502" cy="170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Identified lower-carbon cloud regions</a:t>
            </a:r>
            <a:endParaRPr lang="en-US" altLang="en-US" dirty="0">
              <a:latin typeface="-webkit-standard"/>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Generated sustainability optimization suggestions</a:t>
            </a:r>
            <a:endParaRPr lang="en-US" altLang="en-US" dirty="0">
              <a:latin typeface="-webkit-standard"/>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Explained carbon-aware scheduling decisions</a:t>
            </a:r>
            <a:endParaRPr lang="en-US" altLang="en-US" dirty="0">
              <a:latin typeface="-webkit-standard"/>
            </a:endParaRPr>
          </a:p>
          <a:p>
            <a:pPr marL="285750" marR="0" lvl="0" indent="-285750" algn="l" defTabSz="914400" rtl="0" eaLnBrk="0" fontAlgn="base" latinLnBrk="0" hangingPunct="0">
              <a:lnSpc>
                <a:spcPct val="150000"/>
              </a:lnSpc>
              <a:spcBef>
                <a:spcPct val="0"/>
              </a:spcBef>
              <a:spcAft>
                <a:spcPct val="0"/>
              </a:spcAft>
              <a:buClrTx/>
              <a:buSzTx/>
              <a:buFont typeface="Wingdings" pitchFamily="2" charset="2"/>
              <a:buChar char="ü"/>
              <a:tabLst/>
            </a:pPr>
            <a:r>
              <a:rPr kumimoji="0" lang="en-US" altLang="en-US" sz="1800" b="0" i="0" u="none" strike="noStrike" cap="none" normalizeH="0" baseline="0" dirty="0">
                <a:ln>
                  <a:noFill/>
                </a:ln>
                <a:solidFill>
                  <a:srgbClr val="000000"/>
                </a:solidFill>
                <a:effectLst/>
                <a:latin typeface="-webkit-standard"/>
              </a:rPr>
              <a:t>Helped prototype system architecture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Graphic 12" descr="Cloud Computing outline">
            <a:extLst>
              <a:ext uri="{FF2B5EF4-FFF2-40B4-BE49-F238E27FC236}">
                <a16:creationId xmlns:a16="http://schemas.microsoft.com/office/drawing/2014/main" id="{F0840CB0-B2E6-56A8-D2CD-5480F04E15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4982" y="4717365"/>
            <a:ext cx="2281312" cy="2281312"/>
          </a:xfrm>
          <a:prstGeom prst="rect">
            <a:avLst/>
          </a:prstGeom>
        </p:spPr>
      </p:pic>
    </p:spTree>
    <p:extLst>
      <p:ext uri="{BB962C8B-B14F-4D97-AF65-F5344CB8AC3E}">
        <p14:creationId xmlns:p14="http://schemas.microsoft.com/office/powerpoint/2010/main" val="230970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391C-2EEC-BEDA-994E-4EABE225722A}"/>
              </a:ext>
            </a:extLst>
          </p:cNvPr>
          <p:cNvSpPr>
            <a:spLocks noGrp="1"/>
          </p:cNvSpPr>
          <p:nvPr>
            <p:ph type="title"/>
          </p:nvPr>
        </p:nvSpPr>
        <p:spPr/>
        <p:txBody>
          <a:bodyPr/>
          <a:lstStyle/>
          <a:p>
            <a:r>
              <a:rPr lang="en-US" b="1" dirty="0">
                <a:solidFill>
                  <a:schemeClr val="accent6">
                    <a:lumMod val="50000"/>
                  </a:schemeClr>
                </a:solidFill>
              </a:rPr>
              <a:t>Gap Analysis &amp; Opportunity</a:t>
            </a:r>
          </a:p>
        </p:txBody>
      </p:sp>
      <p:graphicFrame>
        <p:nvGraphicFramePr>
          <p:cNvPr id="6" name="Content Placeholder 5">
            <a:extLst>
              <a:ext uri="{FF2B5EF4-FFF2-40B4-BE49-F238E27FC236}">
                <a16:creationId xmlns:a16="http://schemas.microsoft.com/office/drawing/2014/main" id="{F6BFEE17-DBEA-8EBC-AAFD-275EAEA789BC}"/>
              </a:ext>
            </a:extLst>
          </p:cNvPr>
          <p:cNvGraphicFramePr>
            <a:graphicFrameLocks noGrp="1"/>
          </p:cNvGraphicFramePr>
          <p:nvPr>
            <p:ph idx="1"/>
            <p:extLst>
              <p:ext uri="{D42A27DB-BD31-4B8C-83A1-F6EECF244321}">
                <p14:modId xmlns:p14="http://schemas.microsoft.com/office/powerpoint/2010/main" val="3883146023"/>
              </p:ext>
            </p:extLst>
          </p:nvPr>
        </p:nvGraphicFramePr>
        <p:xfrm>
          <a:off x="838200" y="1825625"/>
          <a:ext cx="10515600" cy="3108960"/>
        </p:xfrm>
        <a:graphic>
          <a:graphicData uri="http://schemas.openxmlformats.org/drawingml/2006/table">
            <a:tbl>
              <a:tblPr firstRow="1" bandRow="1">
                <a:tableStyleId>{EB344D84-9AFB-497E-A393-DC336BA19D2E}</a:tableStyleId>
              </a:tblPr>
              <a:tblGrid>
                <a:gridCol w="2628900">
                  <a:extLst>
                    <a:ext uri="{9D8B030D-6E8A-4147-A177-3AD203B41FA5}">
                      <a16:colId xmlns:a16="http://schemas.microsoft.com/office/drawing/2014/main" val="99810117"/>
                    </a:ext>
                  </a:extLst>
                </a:gridCol>
                <a:gridCol w="2628900">
                  <a:extLst>
                    <a:ext uri="{9D8B030D-6E8A-4147-A177-3AD203B41FA5}">
                      <a16:colId xmlns:a16="http://schemas.microsoft.com/office/drawing/2014/main" val="2143831510"/>
                    </a:ext>
                  </a:extLst>
                </a:gridCol>
                <a:gridCol w="2628900">
                  <a:extLst>
                    <a:ext uri="{9D8B030D-6E8A-4147-A177-3AD203B41FA5}">
                      <a16:colId xmlns:a16="http://schemas.microsoft.com/office/drawing/2014/main" val="878320698"/>
                    </a:ext>
                  </a:extLst>
                </a:gridCol>
                <a:gridCol w="2628900">
                  <a:extLst>
                    <a:ext uri="{9D8B030D-6E8A-4147-A177-3AD203B41FA5}">
                      <a16:colId xmlns:a16="http://schemas.microsoft.com/office/drawing/2014/main" val="4170451234"/>
                    </a:ext>
                  </a:extLst>
                </a:gridCol>
              </a:tblGrid>
              <a:tr h="370840">
                <a:tc>
                  <a:txBody>
                    <a:bodyPr/>
                    <a:lstStyle/>
                    <a:p>
                      <a:pPr>
                        <a:buNone/>
                      </a:pPr>
                      <a:r>
                        <a:rPr lang="en-US" dirty="0"/>
                        <a:t>Platform</a:t>
                      </a:r>
                    </a:p>
                  </a:txBody>
                  <a:tcPr anchor="ctr"/>
                </a:tc>
                <a:tc>
                  <a:txBody>
                    <a:bodyPr/>
                    <a:lstStyle/>
                    <a:p>
                      <a:pPr>
                        <a:buNone/>
                      </a:pPr>
                      <a:r>
                        <a:rPr lang="en-US"/>
                        <a:t>What They Do Well</a:t>
                      </a:r>
                    </a:p>
                  </a:txBody>
                  <a:tcPr anchor="ctr"/>
                </a:tc>
                <a:tc>
                  <a:txBody>
                    <a:bodyPr/>
                    <a:lstStyle/>
                    <a:p>
                      <a:pPr>
                        <a:buNone/>
                      </a:pPr>
                      <a:r>
                        <a:rPr lang="en-US"/>
                        <a:t>Key Limitation</a:t>
                      </a:r>
                    </a:p>
                  </a:txBody>
                  <a:tcPr anchor="ctr"/>
                </a:tc>
                <a:tc>
                  <a:txBody>
                    <a:bodyPr/>
                    <a:lstStyle/>
                    <a:p>
                      <a:pPr>
                        <a:buNone/>
                      </a:pPr>
                      <a:r>
                        <a:rPr lang="en-US" sz="1800" b="0" u="none" strike="noStrike" kern="1200" dirty="0">
                          <a:solidFill>
                            <a:schemeClr val="lt1"/>
                          </a:solidFill>
                          <a:effectLst/>
                        </a:rPr>
                        <a:t>Opportunity for Our System</a:t>
                      </a:r>
                      <a:endParaRPr lang="en-US" dirty="0"/>
                    </a:p>
                  </a:txBody>
                  <a:tcPr anchor="ctr"/>
                </a:tc>
                <a:extLst>
                  <a:ext uri="{0D108BD9-81ED-4DB2-BD59-A6C34878D82A}">
                    <a16:rowId xmlns:a16="http://schemas.microsoft.com/office/drawing/2014/main" val="1119712252"/>
                  </a:ext>
                </a:extLst>
              </a:tr>
              <a:tr h="370840">
                <a:tc>
                  <a:txBody>
                    <a:bodyPr/>
                    <a:lstStyle/>
                    <a:p>
                      <a:pPr>
                        <a:buNone/>
                      </a:pPr>
                      <a:r>
                        <a:rPr lang="en-US" sz="1800" b="0" u="none" strike="noStrike" kern="1200" dirty="0">
                          <a:solidFill>
                            <a:schemeClr val="dk1"/>
                          </a:solidFill>
                          <a:effectLst/>
                        </a:rPr>
                        <a:t>Plan A</a:t>
                      </a:r>
                      <a:endParaRPr lang="en-US" dirty="0"/>
                    </a:p>
                  </a:txBody>
                  <a:tcPr anchor="ctr"/>
                </a:tc>
                <a:tc>
                  <a:txBody>
                    <a:bodyPr/>
                    <a:lstStyle/>
                    <a:p>
                      <a:pPr>
                        <a:buNone/>
                      </a:pPr>
                      <a:r>
                        <a:rPr lang="en-US" sz="1800" b="0" u="none" strike="noStrike" kern="1200" dirty="0">
                          <a:solidFill>
                            <a:schemeClr val="dk1"/>
                          </a:solidFill>
                          <a:effectLst/>
                        </a:rPr>
                        <a:t>Carbon accounting, ESG reporting, Scope 1–3 emissions tracking</a:t>
                      </a:r>
                      <a:endParaRPr lang="en-US" dirty="0"/>
                    </a:p>
                  </a:txBody>
                  <a:tcPr anchor="ctr"/>
                </a:tc>
                <a:tc>
                  <a:txBody>
                    <a:bodyPr/>
                    <a:lstStyle/>
                    <a:p>
                      <a:pPr>
                        <a:buNone/>
                      </a:pPr>
                      <a:r>
                        <a:rPr lang="en-US" sz="1800" b="0" u="none" strike="noStrike" kern="1200" dirty="0">
                          <a:solidFill>
                            <a:schemeClr val="dk1"/>
                          </a:solidFill>
                          <a:effectLst/>
                        </a:rPr>
                        <a:t>Focuses on reporting and compliance dashboards</a:t>
                      </a:r>
                      <a:endParaRPr lang="en-US" dirty="0"/>
                    </a:p>
                  </a:txBody>
                  <a:tcPr anchor="ctr"/>
                </a:tc>
                <a:tc>
                  <a:txBody>
                    <a:bodyPr/>
                    <a:lstStyle/>
                    <a:p>
                      <a:r>
                        <a:rPr lang="en-US" sz="1800" b="0" u="none" strike="noStrike" kern="1200" dirty="0">
                          <a:solidFill>
                            <a:schemeClr val="dk1"/>
                          </a:solidFill>
                          <a:effectLst/>
                        </a:rPr>
                        <a:t>Lack of real-time infrastructure optimization</a:t>
                      </a:r>
                      <a:endParaRPr lang="en-US" dirty="0"/>
                    </a:p>
                  </a:txBody>
                  <a:tcPr/>
                </a:tc>
                <a:extLst>
                  <a:ext uri="{0D108BD9-81ED-4DB2-BD59-A6C34878D82A}">
                    <a16:rowId xmlns:a16="http://schemas.microsoft.com/office/drawing/2014/main" val="2672744011"/>
                  </a:ext>
                </a:extLst>
              </a:tr>
              <a:tr h="370840">
                <a:tc>
                  <a:txBody>
                    <a:bodyPr/>
                    <a:lstStyle/>
                    <a:p>
                      <a:pPr>
                        <a:buNone/>
                      </a:pPr>
                      <a:r>
                        <a:rPr lang="en-US" sz="1800" b="0" u="none" strike="noStrike" kern="1200" dirty="0">
                          <a:solidFill>
                            <a:schemeClr val="dk1"/>
                          </a:solidFill>
                          <a:effectLst/>
                        </a:rPr>
                        <a:t>Normative</a:t>
                      </a:r>
                      <a:endParaRPr lang="en-US" dirty="0"/>
                    </a:p>
                  </a:txBody>
                  <a:tcPr anchor="ctr"/>
                </a:tc>
                <a:tc>
                  <a:txBody>
                    <a:bodyPr/>
                    <a:lstStyle/>
                    <a:p>
                      <a:pPr>
                        <a:buNone/>
                      </a:pPr>
                      <a:r>
                        <a:rPr lang="en-US" sz="1800" b="0" u="none" strike="noStrike" kern="1200" dirty="0">
                          <a:solidFill>
                            <a:schemeClr val="dk1"/>
                          </a:solidFill>
                          <a:effectLst/>
                        </a:rPr>
                        <a:t>Accurate carbon footprint calculation and regulatory reporting</a:t>
                      </a:r>
                      <a:endParaRPr lang="en-US" dirty="0"/>
                    </a:p>
                  </a:txBody>
                  <a:tcPr anchor="ctr"/>
                </a:tc>
                <a:tc>
                  <a:txBody>
                    <a:bodyPr/>
                    <a:lstStyle/>
                    <a:p>
                      <a:pPr>
                        <a:buNone/>
                      </a:pPr>
                      <a:r>
                        <a:rPr lang="en-US" sz="1800" b="0" u="none" strike="noStrike" kern="1200" dirty="0">
                          <a:solidFill>
                            <a:schemeClr val="dk1"/>
                          </a:solidFill>
                          <a:effectLst/>
                        </a:rPr>
                        <a:t>Primarily used for enterprise reporting and sustainability teams</a:t>
                      </a:r>
                      <a:endParaRPr lang="en-US" dirty="0"/>
                    </a:p>
                  </a:txBody>
                  <a:tcPr anchor="ctr"/>
                </a:tc>
                <a:tc>
                  <a:txBody>
                    <a:bodyPr/>
                    <a:lstStyle/>
                    <a:p>
                      <a:r>
                        <a:rPr lang="en-US" sz="1800" b="0" u="none" strike="noStrike" kern="1200" dirty="0">
                          <a:solidFill>
                            <a:schemeClr val="dk1"/>
                          </a:solidFill>
                          <a:effectLst/>
                        </a:rPr>
                        <a:t>Does not guide developers on compute-level decisions</a:t>
                      </a:r>
                      <a:endParaRPr lang="en-US" dirty="0"/>
                    </a:p>
                  </a:txBody>
                  <a:tcPr/>
                </a:tc>
                <a:extLst>
                  <a:ext uri="{0D108BD9-81ED-4DB2-BD59-A6C34878D82A}">
                    <a16:rowId xmlns:a16="http://schemas.microsoft.com/office/drawing/2014/main" val="4285341286"/>
                  </a:ext>
                </a:extLst>
              </a:tr>
              <a:tr h="370840">
                <a:tc>
                  <a:txBody>
                    <a:bodyPr/>
                    <a:lstStyle/>
                    <a:p>
                      <a:pPr>
                        <a:buNone/>
                      </a:pPr>
                      <a:r>
                        <a:rPr lang="en-US" sz="1800" b="0" u="none" strike="noStrike" kern="1200" dirty="0">
                          <a:solidFill>
                            <a:schemeClr val="dk1"/>
                          </a:solidFill>
                          <a:effectLst/>
                        </a:rPr>
                        <a:t>Traditional Carbon Tools</a:t>
                      </a:r>
                      <a:endParaRPr lang="en-US" dirty="0"/>
                    </a:p>
                  </a:txBody>
                  <a:tcPr anchor="ctr"/>
                </a:tc>
                <a:tc>
                  <a:txBody>
                    <a:bodyPr/>
                    <a:lstStyle/>
                    <a:p>
                      <a:pPr>
                        <a:buNone/>
                      </a:pPr>
                      <a:r>
                        <a:rPr lang="en-US" sz="1800" b="0" u="none" strike="noStrike" kern="1200" dirty="0">
                          <a:solidFill>
                            <a:schemeClr val="dk1"/>
                          </a:solidFill>
                          <a:effectLst/>
                        </a:rPr>
                        <a:t>Measure and report emissions data</a:t>
                      </a:r>
                      <a:endParaRPr lang="en-US" dirty="0"/>
                    </a:p>
                  </a:txBody>
                  <a:tcPr anchor="ctr"/>
                </a:tc>
                <a:tc>
                  <a:txBody>
                    <a:bodyPr/>
                    <a:lstStyle/>
                    <a:p>
                      <a:pPr>
                        <a:buNone/>
                      </a:pPr>
                      <a:r>
                        <a:rPr lang="en-US" sz="1800" b="0" u="none" strike="noStrike" kern="1200" dirty="0">
                          <a:solidFill>
                            <a:schemeClr val="dk1"/>
                          </a:solidFill>
                          <a:effectLst/>
                        </a:rPr>
                        <a:t>Post-hoc analysis after emissions occur</a:t>
                      </a:r>
                      <a:endParaRPr lang="en-US" dirty="0"/>
                    </a:p>
                  </a:txBody>
                  <a:tcPr anchor="ctr"/>
                </a:tc>
                <a:tc>
                  <a:txBody>
                    <a:bodyPr/>
                    <a:lstStyle/>
                    <a:p>
                      <a:r>
                        <a:rPr lang="en-US" sz="1800" b="0" u="none" strike="noStrike" kern="1200" dirty="0">
                          <a:solidFill>
                            <a:schemeClr val="dk1"/>
                          </a:solidFill>
                          <a:effectLst/>
                        </a:rPr>
                        <a:t>No automated decision support</a:t>
                      </a:r>
                      <a:endParaRPr lang="en-US" dirty="0"/>
                    </a:p>
                  </a:txBody>
                  <a:tcPr/>
                </a:tc>
                <a:extLst>
                  <a:ext uri="{0D108BD9-81ED-4DB2-BD59-A6C34878D82A}">
                    <a16:rowId xmlns:a16="http://schemas.microsoft.com/office/drawing/2014/main" val="4073725824"/>
                  </a:ext>
                </a:extLst>
              </a:tr>
            </a:tbl>
          </a:graphicData>
        </a:graphic>
      </p:graphicFrame>
      <p:sp>
        <p:nvSpPr>
          <p:cNvPr id="8" name="TextBox 7">
            <a:extLst>
              <a:ext uri="{FF2B5EF4-FFF2-40B4-BE49-F238E27FC236}">
                <a16:creationId xmlns:a16="http://schemas.microsoft.com/office/drawing/2014/main" id="{74543712-B33D-22C8-9312-C8F0C9ABA1C3}"/>
              </a:ext>
            </a:extLst>
          </p:cNvPr>
          <p:cNvSpPr txBox="1"/>
          <p:nvPr/>
        </p:nvSpPr>
        <p:spPr>
          <a:xfrm>
            <a:off x="838200" y="5585266"/>
            <a:ext cx="6098344" cy="646331"/>
          </a:xfrm>
          <a:prstGeom prst="rect">
            <a:avLst/>
          </a:prstGeom>
          <a:noFill/>
        </p:spPr>
        <p:txBody>
          <a:bodyPr wrap="square">
            <a:spAutoFit/>
          </a:bodyPr>
          <a:lstStyle/>
          <a:p>
            <a:r>
              <a:rPr lang="en-US" b="0" i="0" u="none" strike="noStrike" dirty="0">
                <a:solidFill>
                  <a:srgbClr val="000000"/>
                </a:solidFill>
                <a:effectLst/>
                <a:latin typeface="-webkit-standard"/>
              </a:rPr>
              <a:t>Most platforms measure carbon emissions.</a:t>
            </a:r>
            <a:br>
              <a:rPr lang="en-US" dirty="0"/>
            </a:br>
            <a:r>
              <a:rPr lang="en-US" b="0" i="0" u="none" strike="noStrike" dirty="0">
                <a:solidFill>
                  <a:srgbClr val="000000"/>
                </a:solidFill>
                <a:effectLst/>
                <a:latin typeface="-webkit-standard"/>
              </a:rPr>
              <a:t>Few systems actively guide how to reduce them in real-time.</a:t>
            </a:r>
            <a:endParaRPr lang="en-US" dirty="0"/>
          </a:p>
        </p:txBody>
      </p:sp>
      <p:pic>
        <p:nvPicPr>
          <p:cNvPr id="10" name="Graphic 9" descr="Bamboo with solid fill">
            <a:extLst>
              <a:ext uri="{FF2B5EF4-FFF2-40B4-BE49-F238E27FC236}">
                <a16:creationId xmlns:a16="http://schemas.microsoft.com/office/drawing/2014/main" id="{4D578A88-9748-AAC6-241F-448A83739B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66437" y="5513718"/>
            <a:ext cx="1325563" cy="1325563"/>
          </a:xfrm>
          <a:prstGeom prst="rect">
            <a:avLst/>
          </a:prstGeom>
        </p:spPr>
      </p:pic>
    </p:spTree>
    <p:extLst>
      <p:ext uri="{BB962C8B-B14F-4D97-AF65-F5344CB8AC3E}">
        <p14:creationId xmlns:p14="http://schemas.microsoft.com/office/powerpoint/2010/main" val="138384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CF25-0C8C-F1D4-6C8F-F9885961ADEB}"/>
              </a:ext>
            </a:extLst>
          </p:cNvPr>
          <p:cNvSpPr>
            <a:spLocks noGrp="1"/>
          </p:cNvSpPr>
          <p:nvPr>
            <p:ph type="title"/>
          </p:nvPr>
        </p:nvSpPr>
        <p:spPr/>
        <p:txBody>
          <a:bodyPr/>
          <a:lstStyle/>
          <a:p>
            <a:r>
              <a:rPr lang="en-US" b="1" dirty="0">
                <a:solidFill>
                  <a:schemeClr val="accent6">
                    <a:lumMod val="50000"/>
                  </a:schemeClr>
                </a:solidFill>
              </a:rPr>
              <a:t>Concept Evolution</a:t>
            </a:r>
          </a:p>
        </p:txBody>
      </p:sp>
      <p:sp>
        <p:nvSpPr>
          <p:cNvPr id="3" name="Content Placeholder 2">
            <a:extLst>
              <a:ext uri="{FF2B5EF4-FFF2-40B4-BE49-F238E27FC236}">
                <a16:creationId xmlns:a16="http://schemas.microsoft.com/office/drawing/2014/main" id="{3EDC177F-E62C-6D4C-EA5A-8ACEE444DBE6}"/>
              </a:ext>
            </a:extLst>
          </p:cNvPr>
          <p:cNvSpPr>
            <a:spLocks noGrp="1"/>
          </p:cNvSpPr>
          <p:nvPr>
            <p:ph idx="1"/>
          </p:nvPr>
        </p:nvSpPr>
        <p:spPr>
          <a:xfrm>
            <a:off x="838200" y="1825625"/>
            <a:ext cx="10515600" cy="509612"/>
          </a:xfrm>
        </p:spPr>
        <p:txBody>
          <a:bodyPr/>
          <a:lstStyle/>
          <a:p>
            <a:pPr marL="0" indent="0">
              <a:buNone/>
            </a:pPr>
            <a:r>
              <a:rPr lang="en-US" dirty="0"/>
              <a:t>Initial Idea: Multimodal AI scheduling assistant</a:t>
            </a:r>
          </a:p>
        </p:txBody>
      </p:sp>
      <p:sp>
        <p:nvSpPr>
          <p:cNvPr id="6" name="Rectangle 3">
            <a:extLst>
              <a:ext uri="{FF2B5EF4-FFF2-40B4-BE49-F238E27FC236}">
                <a16:creationId xmlns:a16="http://schemas.microsoft.com/office/drawing/2014/main" id="{978AF8F0-3700-B8F4-B68E-FD279D71EF0C}"/>
              </a:ext>
            </a:extLst>
          </p:cNvPr>
          <p:cNvSpPr>
            <a:spLocks noChangeArrowheads="1"/>
          </p:cNvSpPr>
          <p:nvPr/>
        </p:nvSpPr>
        <p:spPr bwMode="auto">
          <a:xfrm>
            <a:off x="1356946" y="3410727"/>
            <a:ext cx="105155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1" u="sng" strike="noStrike" cap="none" normalizeH="0" baseline="0" dirty="0">
                <a:ln>
                  <a:noFill/>
                </a:ln>
                <a:solidFill>
                  <a:schemeClr val="accent6">
                    <a:lumMod val="50000"/>
                  </a:schemeClr>
                </a:solidFill>
                <a:effectLst/>
                <a:latin typeface="+mn-lt"/>
              </a:rPr>
              <a:t>The system was only predicting recommendations, not making decisions.</a:t>
            </a:r>
          </a:p>
        </p:txBody>
      </p:sp>
      <p:sp>
        <p:nvSpPr>
          <p:cNvPr id="7" name="Rounded Rectangle 6">
            <a:extLst>
              <a:ext uri="{FF2B5EF4-FFF2-40B4-BE49-F238E27FC236}">
                <a16:creationId xmlns:a16="http://schemas.microsoft.com/office/drawing/2014/main" id="{53431B6A-AD1E-EA76-1185-9893B2D2DE70}"/>
              </a:ext>
            </a:extLst>
          </p:cNvPr>
          <p:cNvSpPr/>
          <p:nvPr/>
        </p:nvSpPr>
        <p:spPr>
          <a:xfrm>
            <a:off x="2717995" y="2531868"/>
            <a:ext cx="1744394" cy="32673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Workload</a:t>
            </a:r>
          </a:p>
        </p:txBody>
      </p:sp>
      <p:sp>
        <p:nvSpPr>
          <p:cNvPr id="10" name="Rounded Rectangle 9">
            <a:extLst>
              <a:ext uri="{FF2B5EF4-FFF2-40B4-BE49-F238E27FC236}">
                <a16:creationId xmlns:a16="http://schemas.microsoft.com/office/drawing/2014/main" id="{3D34C4E1-CEAB-B2C3-BDEB-1CFD72AE7C93}"/>
              </a:ext>
            </a:extLst>
          </p:cNvPr>
          <p:cNvSpPr/>
          <p:nvPr/>
        </p:nvSpPr>
        <p:spPr>
          <a:xfrm>
            <a:off x="5334586" y="2531868"/>
            <a:ext cx="1744394" cy="32673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LLM</a:t>
            </a:r>
          </a:p>
        </p:txBody>
      </p:sp>
      <p:sp>
        <p:nvSpPr>
          <p:cNvPr id="11" name="Rounded Rectangle 10">
            <a:extLst>
              <a:ext uri="{FF2B5EF4-FFF2-40B4-BE49-F238E27FC236}">
                <a16:creationId xmlns:a16="http://schemas.microsoft.com/office/drawing/2014/main" id="{CCC5D5A0-D625-FD9A-D92B-77DAF907E309}"/>
              </a:ext>
            </a:extLst>
          </p:cNvPr>
          <p:cNvSpPr/>
          <p:nvPr/>
        </p:nvSpPr>
        <p:spPr>
          <a:xfrm>
            <a:off x="8165123" y="2531868"/>
            <a:ext cx="1744394" cy="32673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Suggest region</a:t>
            </a:r>
          </a:p>
        </p:txBody>
      </p:sp>
      <p:cxnSp>
        <p:nvCxnSpPr>
          <p:cNvPr id="13" name="Straight Arrow Connector 12">
            <a:extLst>
              <a:ext uri="{FF2B5EF4-FFF2-40B4-BE49-F238E27FC236}">
                <a16:creationId xmlns:a16="http://schemas.microsoft.com/office/drawing/2014/main" id="{F4D88DFC-01E4-F395-A31D-5DF3A03B3840}"/>
              </a:ext>
            </a:extLst>
          </p:cNvPr>
          <p:cNvCxnSpPr>
            <a:stCxn id="7" idx="3"/>
            <a:endCxn id="10" idx="1"/>
          </p:cNvCxnSpPr>
          <p:nvPr/>
        </p:nvCxnSpPr>
        <p:spPr>
          <a:xfrm>
            <a:off x="4462389" y="2695234"/>
            <a:ext cx="87219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4E0CCDC1-16DC-D436-686F-F1560B72CBCE}"/>
              </a:ext>
            </a:extLst>
          </p:cNvPr>
          <p:cNvCxnSpPr>
            <a:stCxn id="10" idx="3"/>
            <a:endCxn id="11" idx="1"/>
          </p:cNvCxnSpPr>
          <p:nvPr/>
        </p:nvCxnSpPr>
        <p:spPr>
          <a:xfrm>
            <a:off x="7078980" y="2695234"/>
            <a:ext cx="1086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606F397-C056-E474-0BB4-F605746ABE6C}"/>
              </a:ext>
            </a:extLst>
          </p:cNvPr>
          <p:cNvSpPr txBox="1"/>
          <p:nvPr/>
        </p:nvSpPr>
        <p:spPr>
          <a:xfrm>
            <a:off x="838200" y="4261154"/>
            <a:ext cx="10515600" cy="523220"/>
          </a:xfrm>
          <a:prstGeom prst="rect">
            <a:avLst/>
          </a:prstGeom>
          <a:noFill/>
        </p:spPr>
        <p:txBody>
          <a:bodyPr wrap="square">
            <a:spAutoFit/>
          </a:bodyPr>
          <a:lstStyle/>
          <a:p>
            <a:pPr algn="l">
              <a:buNone/>
            </a:pPr>
            <a:r>
              <a:rPr lang="en-US" sz="2800" b="1" i="0" u="none" strike="noStrike" dirty="0">
                <a:solidFill>
                  <a:srgbClr val="000000"/>
                </a:solidFill>
                <a:effectLst/>
              </a:rPr>
              <a:t>Refined Concept</a:t>
            </a:r>
            <a:r>
              <a:rPr lang="en-US" sz="2800" dirty="0">
                <a:solidFill>
                  <a:srgbClr val="000000"/>
                </a:solidFill>
              </a:rPr>
              <a:t>: </a:t>
            </a:r>
            <a:r>
              <a:rPr lang="en-US" sz="2800" b="1" i="0" u="none" strike="noStrike" dirty="0">
                <a:solidFill>
                  <a:srgbClr val="000000"/>
                </a:solidFill>
                <a:effectLst/>
              </a:rPr>
              <a:t>Autonomous sustainability decision agent</a:t>
            </a:r>
          </a:p>
        </p:txBody>
      </p:sp>
      <p:sp>
        <p:nvSpPr>
          <p:cNvPr id="25" name="Rectangle 6">
            <a:extLst>
              <a:ext uri="{FF2B5EF4-FFF2-40B4-BE49-F238E27FC236}">
                <a16:creationId xmlns:a16="http://schemas.microsoft.com/office/drawing/2014/main" id="{D4224E2B-3B16-5AB0-F82B-A549966E3C4A}"/>
              </a:ext>
            </a:extLst>
          </p:cNvPr>
          <p:cNvSpPr>
            <a:spLocks noChangeArrowheads="1"/>
          </p:cNvSpPr>
          <p:nvPr/>
        </p:nvSpPr>
        <p:spPr bwMode="auto">
          <a:xfrm>
            <a:off x="838200" y="5038805"/>
            <a:ext cx="67982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mn-lt"/>
              </a:rPr>
              <a:t>Agents decide:</a:t>
            </a:r>
            <a:endParaRPr kumimoji="0" lang="en-US" altLang="en-US" sz="18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mn-lt"/>
              </a:rPr>
              <a:t>• </a:t>
            </a:r>
            <a:r>
              <a:rPr kumimoji="0" lang="en-US" altLang="en-US" sz="1800" b="1" i="0" u="none" strike="noStrike" cap="none" normalizeH="0" baseline="0" dirty="0">
                <a:ln>
                  <a:noFill/>
                </a:ln>
                <a:solidFill>
                  <a:srgbClr val="000000"/>
                </a:solidFill>
                <a:effectLst/>
                <a:latin typeface="+mn-lt"/>
              </a:rPr>
              <a:t>Where</a:t>
            </a:r>
            <a:r>
              <a:rPr kumimoji="0" lang="en-US" altLang="en-US" sz="1800" b="0" i="0" u="none" strike="noStrike" cap="none" normalizeH="0" baseline="0" dirty="0">
                <a:ln>
                  <a:noFill/>
                </a:ln>
                <a:solidFill>
                  <a:srgbClr val="000000"/>
                </a:solidFill>
                <a:effectLst/>
                <a:latin typeface="+mn-lt"/>
              </a:rPr>
              <a:t> workloads should run</a:t>
            </a:r>
            <a:br>
              <a:rPr kumimoji="0" lang="en-US" altLang="en-US" sz="1800" b="0" i="0" u="none" strike="noStrike" cap="none" normalizeH="0" baseline="0" dirty="0">
                <a:ln>
                  <a:noFill/>
                </a:ln>
                <a:solidFill>
                  <a:srgbClr val="000000"/>
                </a:solidFill>
                <a:effectLst/>
                <a:latin typeface="+mn-lt"/>
              </a:rPr>
            </a:br>
            <a:r>
              <a:rPr kumimoji="0" lang="en-US" altLang="en-US" sz="1800" b="0" i="0" u="none" strike="noStrike" cap="none" normalizeH="0" baseline="0" dirty="0">
                <a:ln>
                  <a:noFill/>
                </a:ln>
                <a:solidFill>
                  <a:srgbClr val="000000"/>
                </a:solidFill>
                <a:effectLst/>
                <a:latin typeface="+mn-lt"/>
              </a:rPr>
              <a:t>• </a:t>
            </a:r>
            <a:r>
              <a:rPr kumimoji="0" lang="en-US" altLang="en-US" sz="1800" b="1" i="0" u="none" strike="noStrike" cap="none" normalizeH="0" baseline="0" dirty="0">
                <a:ln>
                  <a:noFill/>
                </a:ln>
                <a:solidFill>
                  <a:srgbClr val="000000"/>
                </a:solidFill>
                <a:effectLst/>
                <a:latin typeface="+mn-lt"/>
              </a:rPr>
              <a:t>When</a:t>
            </a:r>
            <a:r>
              <a:rPr kumimoji="0" lang="en-US" altLang="en-US" sz="1800" b="0" i="0" u="none" strike="noStrike" cap="none" normalizeH="0" baseline="0" dirty="0">
                <a:ln>
                  <a:noFill/>
                </a:ln>
                <a:solidFill>
                  <a:srgbClr val="000000"/>
                </a:solidFill>
                <a:effectLst/>
                <a:latin typeface="+mn-lt"/>
              </a:rPr>
              <a:t> they should run</a:t>
            </a:r>
            <a:br>
              <a:rPr kumimoji="0" lang="en-US" altLang="en-US" sz="1800" b="0" i="0" u="none" strike="noStrike" cap="none" normalizeH="0" baseline="0" dirty="0">
                <a:ln>
                  <a:noFill/>
                </a:ln>
                <a:solidFill>
                  <a:srgbClr val="000000"/>
                </a:solidFill>
                <a:effectLst/>
                <a:latin typeface="+mn-lt"/>
              </a:rPr>
            </a:br>
            <a:r>
              <a:rPr kumimoji="0" lang="en-US" altLang="en-US" sz="1800" b="0" i="0" u="none" strike="noStrike" cap="none" normalizeH="0" baseline="0" dirty="0">
                <a:ln>
                  <a:noFill/>
                </a:ln>
                <a:solidFill>
                  <a:srgbClr val="000000"/>
                </a:solidFill>
                <a:effectLst/>
                <a:latin typeface="+mn-lt"/>
              </a:rPr>
              <a:t>• </a:t>
            </a:r>
            <a:r>
              <a:rPr kumimoji="0" lang="en-US" altLang="en-US" sz="1800" b="1" i="0" u="none" strike="noStrike" cap="none" normalizeH="0" baseline="0" dirty="0">
                <a:ln>
                  <a:noFill/>
                </a:ln>
                <a:solidFill>
                  <a:srgbClr val="000000"/>
                </a:solidFill>
                <a:effectLst/>
                <a:latin typeface="+mn-lt"/>
              </a:rPr>
              <a:t>How</a:t>
            </a:r>
            <a:r>
              <a:rPr kumimoji="0" lang="en-US" altLang="en-US" sz="1800" b="0" i="0" u="none" strike="noStrike" cap="none" normalizeH="0" baseline="0" dirty="0">
                <a:ln>
                  <a:noFill/>
                </a:ln>
                <a:solidFill>
                  <a:srgbClr val="000000"/>
                </a:solidFill>
                <a:effectLst/>
                <a:latin typeface="+mn-lt"/>
              </a:rPr>
              <a:t> to balance carbon, cost, and performance</a:t>
            </a:r>
            <a:endParaRPr kumimoji="0" lang="en-US" altLang="en-US" sz="1800" b="0" i="0" u="none" strike="noStrike" cap="none" normalizeH="0" baseline="0" dirty="0">
              <a:ln>
                <a:noFill/>
              </a:ln>
              <a:solidFill>
                <a:schemeClr val="tx1"/>
              </a:solidFill>
              <a:effectLst/>
              <a:latin typeface="+mn-lt"/>
            </a:endParaRPr>
          </a:p>
        </p:txBody>
      </p:sp>
      <p:pic>
        <p:nvPicPr>
          <p:cNvPr id="29" name="Graphic 28" descr="Back with solid fill">
            <a:extLst>
              <a:ext uri="{FF2B5EF4-FFF2-40B4-BE49-F238E27FC236}">
                <a16:creationId xmlns:a16="http://schemas.microsoft.com/office/drawing/2014/main" id="{2624ED7F-6CBD-CAB5-1C78-4DB02B603E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000" y="3219539"/>
            <a:ext cx="914400" cy="914400"/>
          </a:xfrm>
          <a:prstGeom prst="rect">
            <a:avLst/>
          </a:prstGeom>
        </p:spPr>
      </p:pic>
      <p:pic>
        <p:nvPicPr>
          <p:cNvPr id="30" name="Graphic 29" descr="Footprints with solid fill">
            <a:extLst>
              <a:ext uri="{FF2B5EF4-FFF2-40B4-BE49-F238E27FC236}">
                <a16:creationId xmlns:a16="http://schemas.microsoft.com/office/drawing/2014/main" id="{4251E0CA-1118-23CF-1B45-C7F34C3959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83345">
            <a:off x="10689813" y="5527559"/>
            <a:ext cx="1000520" cy="1000520"/>
          </a:xfrm>
          <a:prstGeom prst="rect">
            <a:avLst/>
          </a:prstGeom>
        </p:spPr>
      </p:pic>
    </p:spTree>
    <p:extLst>
      <p:ext uri="{BB962C8B-B14F-4D97-AF65-F5344CB8AC3E}">
        <p14:creationId xmlns:p14="http://schemas.microsoft.com/office/powerpoint/2010/main" val="3042696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59136-DFD2-F5F0-1E4E-705D01BB53BA}"/>
              </a:ext>
            </a:extLst>
          </p:cNvPr>
          <p:cNvSpPr>
            <a:spLocks noGrp="1"/>
          </p:cNvSpPr>
          <p:nvPr>
            <p:ph type="title"/>
          </p:nvPr>
        </p:nvSpPr>
        <p:spPr/>
        <p:txBody>
          <a:bodyPr/>
          <a:lstStyle/>
          <a:p>
            <a:r>
              <a:rPr lang="en-US" b="1" dirty="0">
                <a:solidFill>
                  <a:schemeClr val="accent6">
                    <a:lumMod val="50000"/>
                  </a:schemeClr>
                </a:solidFill>
              </a:rPr>
              <a:t>Refined System Concept</a:t>
            </a:r>
          </a:p>
        </p:txBody>
      </p:sp>
      <p:pic>
        <p:nvPicPr>
          <p:cNvPr id="4" name="Content Placeholder 3">
            <a:extLst>
              <a:ext uri="{FF2B5EF4-FFF2-40B4-BE49-F238E27FC236}">
                <a16:creationId xmlns:a16="http://schemas.microsoft.com/office/drawing/2014/main" id="{35BC89E2-7B32-0A20-F77A-7E929C7F600E}"/>
              </a:ext>
            </a:extLst>
          </p:cNvPr>
          <p:cNvPicPr>
            <a:picLocks noGrp="1" noChangeAspect="1"/>
          </p:cNvPicPr>
          <p:nvPr>
            <p:ph idx="1"/>
          </p:nvPr>
        </p:nvPicPr>
        <p:blipFill>
          <a:blip r:embed="rId3"/>
          <a:srcRect b="5236"/>
          <a:stretch>
            <a:fillRect/>
          </a:stretch>
        </p:blipFill>
        <p:spPr>
          <a:xfrm>
            <a:off x="1117537" y="1560761"/>
            <a:ext cx="9956925" cy="5058724"/>
          </a:xfrm>
          <a:prstGeom prst="rect">
            <a:avLst/>
          </a:prstGeom>
        </p:spPr>
      </p:pic>
    </p:spTree>
    <p:extLst>
      <p:ext uri="{BB962C8B-B14F-4D97-AF65-F5344CB8AC3E}">
        <p14:creationId xmlns:p14="http://schemas.microsoft.com/office/powerpoint/2010/main" val="235850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292079F-2A6F-B22D-659E-88BFA367069F}"/>
              </a:ext>
            </a:extLst>
          </p:cNvPr>
          <p:cNvPicPr>
            <a:picLocks noGrp="1" noChangeAspect="1"/>
          </p:cNvPicPr>
          <p:nvPr>
            <p:ph idx="1"/>
          </p:nvPr>
        </p:nvPicPr>
        <p:blipFill>
          <a:blip r:embed="rId3"/>
          <a:stretch>
            <a:fillRect/>
          </a:stretch>
        </p:blipFill>
        <p:spPr>
          <a:xfrm>
            <a:off x="579590" y="471471"/>
            <a:ext cx="11032820" cy="5915057"/>
          </a:xfrm>
          <a:prstGeom prst="rect">
            <a:avLst/>
          </a:prstGeom>
        </p:spPr>
      </p:pic>
    </p:spTree>
    <p:extLst>
      <p:ext uri="{BB962C8B-B14F-4D97-AF65-F5344CB8AC3E}">
        <p14:creationId xmlns:p14="http://schemas.microsoft.com/office/powerpoint/2010/main" val="190141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8366F9-5FE8-9730-D0BD-D17249DDD62B}"/>
              </a:ext>
            </a:extLst>
          </p:cNvPr>
          <p:cNvPicPr>
            <a:picLocks noGrp="1" noChangeAspect="1"/>
          </p:cNvPicPr>
          <p:nvPr>
            <p:ph idx="1"/>
          </p:nvPr>
        </p:nvPicPr>
        <p:blipFill>
          <a:blip r:embed="rId3"/>
          <a:stretch>
            <a:fillRect/>
          </a:stretch>
        </p:blipFill>
        <p:spPr>
          <a:xfrm>
            <a:off x="520881" y="445440"/>
            <a:ext cx="11150238" cy="5967120"/>
          </a:xfrm>
          <a:prstGeom prst="rect">
            <a:avLst/>
          </a:prstGeom>
        </p:spPr>
      </p:pic>
    </p:spTree>
    <p:extLst>
      <p:ext uri="{BB962C8B-B14F-4D97-AF65-F5344CB8AC3E}">
        <p14:creationId xmlns:p14="http://schemas.microsoft.com/office/powerpoint/2010/main" val="44423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2D368-24DF-4CD8-AF67-2437A513D7FC}"/>
              </a:ext>
            </a:extLst>
          </p:cNvPr>
          <p:cNvSpPr>
            <a:spLocks noGrp="1"/>
          </p:cNvSpPr>
          <p:nvPr>
            <p:ph type="title"/>
          </p:nvPr>
        </p:nvSpPr>
        <p:spPr/>
        <p:txBody>
          <a:bodyPr/>
          <a:lstStyle/>
          <a:p>
            <a:r>
              <a:rPr lang="en-US" b="1" dirty="0">
                <a:solidFill>
                  <a:schemeClr val="accent6">
                    <a:lumMod val="50000"/>
                  </a:schemeClr>
                </a:solidFill>
              </a:rPr>
              <a:t>Risks &amp; Next Steps</a:t>
            </a:r>
          </a:p>
        </p:txBody>
      </p:sp>
      <p:sp>
        <p:nvSpPr>
          <p:cNvPr id="3" name="Content Placeholder 2">
            <a:extLst>
              <a:ext uri="{FF2B5EF4-FFF2-40B4-BE49-F238E27FC236}">
                <a16:creationId xmlns:a16="http://schemas.microsoft.com/office/drawing/2014/main" id="{E9C8DFD7-5022-7EB2-D5B0-9400EB28DE32}"/>
              </a:ext>
            </a:extLst>
          </p:cNvPr>
          <p:cNvSpPr>
            <a:spLocks noGrp="1"/>
          </p:cNvSpPr>
          <p:nvPr>
            <p:ph idx="1"/>
          </p:nvPr>
        </p:nvSpPr>
        <p:spPr>
          <a:xfrm>
            <a:off x="838200" y="1825625"/>
            <a:ext cx="2734994" cy="495544"/>
          </a:xfrm>
        </p:spPr>
        <p:txBody>
          <a:bodyPr/>
          <a:lstStyle/>
          <a:p>
            <a:pPr marL="0" indent="0">
              <a:buNone/>
            </a:pPr>
            <a:r>
              <a:rPr lang="en-US" dirty="0"/>
              <a:t>Risks Identified</a:t>
            </a:r>
          </a:p>
        </p:txBody>
      </p:sp>
      <p:sp>
        <p:nvSpPr>
          <p:cNvPr id="5" name="Rounded Rectangle 4">
            <a:extLst>
              <a:ext uri="{FF2B5EF4-FFF2-40B4-BE49-F238E27FC236}">
                <a16:creationId xmlns:a16="http://schemas.microsoft.com/office/drawing/2014/main" id="{08D378CF-D6A9-BC1B-810B-6D8BBFC527A0}"/>
              </a:ext>
            </a:extLst>
          </p:cNvPr>
          <p:cNvSpPr/>
          <p:nvPr/>
        </p:nvSpPr>
        <p:spPr>
          <a:xfrm>
            <a:off x="838200" y="2488406"/>
            <a:ext cx="3148819" cy="1325563"/>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r>
              <a:rPr lang="en-US" altLang="en-US" dirty="0">
                <a:solidFill>
                  <a:schemeClr val="bg1"/>
                </a:solidFill>
                <a:latin typeface="-webkit-standard"/>
              </a:rPr>
              <a:t>• Unreliable emissions data</a:t>
            </a:r>
            <a:br>
              <a:rPr lang="en-US" altLang="en-US" dirty="0">
                <a:solidFill>
                  <a:schemeClr val="bg1"/>
                </a:solidFill>
              </a:rPr>
            </a:br>
            <a:r>
              <a:rPr lang="en-US" altLang="en-US" dirty="0">
                <a:solidFill>
                  <a:schemeClr val="bg1"/>
                </a:solidFill>
                <a:latin typeface="-webkit-standard"/>
              </a:rPr>
              <a:t>• LLM hallucinations</a:t>
            </a:r>
            <a:br>
              <a:rPr lang="en-US" altLang="en-US" dirty="0">
                <a:solidFill>
                  <a:schemeClr val="bg1"/>
                </a:solidFill>
              </a:rPr>
            </a:br>
            <a:r>
              <a:rPr lang="en-US" altLang="en-US" dirty="0">
                <a:solidFill>
                  <a:schemeClr val="bg1"/>
                </a:solidFill>
                <a:latin typeface="-webkit-standard"/>
              </a:rPr>
              <a:t>• Orchestration instability</a:t>
            </a:r>
            <a:endParaRPr lang="en-US" altLang="en-US" dirty="0">
              <a:solidFill>
                <a:schemeClr val="bg1"/>
              </a:solidFill>
              <a:latin typeface="Arial" panose="020B0604020202020204" pitchFamily="34" charset="0"/>
            </a:endParaRPr>
          </a:p>
        </p:txBody>
      </p:sp>
      <p:sp>
        <p:nvSpPr>
          <p:cNvPr id="7" name="Rounded Rectangle 6">
            <a:extLst>
              <a:ext uri="{FF2B5EF4-FFF2-40B4-BE49-F238E27FC236}">
                <a16:creationId xmlns:a16="http://schemas.microsoft.com/office/drawing/2014/main" id="{81E72CAC-0462-FE4C-4805-89448E5E9D99}"/>
              </a:ext>
            </a:extLst>
          </p:cNvPr>
          <p:cNvSpPr/>
          <p:nvPr/>
        </p:nvSpPr>
        <p:spPr>
          <a:xfrm>
            <a:off x="5309381" y="2488406"/>
            <a:ext cx="5072576" cy="1325563"/>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marL="285750" indent="-285750">
              <a:buFont typeface="Arial" panose="020B0604020202020204" pitchFamily="34" charset="0"/>
              <a:buChar char="•"/>
            </a:pPr>
            <a:r>
              <a:rPr lang="en-US" altLang="en-US" dirty="0">
                <a:solidFill>
                  <a:schemeClr val="bg1"/>
                </a:solidFill>
                <a:latin typeface="-webkit-standard"/>
              </a:rPr>
              <a:t>Deterministic carbon calculations</a:t>
            </a:r>
          </a:p>
          <a:p>
            <a:pPr marL="285750" indent="-285750">
              <a:buFont typeface="Arial" panose="020B0604020202020204" pitchFamily="34" charset="0"/>
              <a:buChar char="•"/>
            </a:pPr>
            <a:r>
              <a:rPr lang="en-US" altLang="en-US" dirty="0">
                <a:solidFill>
                  <a:schemeClr val="bg1"/>
                </a:solidFill>
                <a:latin typeface="-webkit-standard"/>
              </a:rPr>
              <a:t>Verified emissions data sources</a:t>
            </a:r>
          </a:p>
          <a:p>
            <a:pPr marL="285750" indent="-285750">
              <a:buFont typeface="Arial" panose="020B0604020202020204" pitchFamily="34" charset="0"/>
              <a:buChar char="•"/>
            </a:pPr>
            <a:r>
              <a:rPr lang="en-US" altLang="en-US" dirty="0">
                <a:solidFill>
                  <a:schemeClr val="bg1"/>
                </a:solidFill>
                <a:latin typeface="-webkit-standard"/>
              </a:rPr>
              <a:t>Termination safeguards for agent workflows</a:t>
            </a:r>
          </a:p>
        </p:txBody>
      </p:sp>
      <p:sp>
        <p:nvSpPr>
          <p:cNvPr id="8" name="Content Placeholder 2">
            <a:extLst>
              <a:ext uri="{FF2B5EF4-FFF2-40B4-BE49-F238E27FC236}">
                <a16:creationId xmlns:a16="http://schemas.microsoft.com/office/drawing/2014/main" id="{A0FE4229-B2EA-C4C1-2238-A3C554528BFB}"/>
              </a:ext>
            </a:extLst>
          </p:cNvPr>
          <p:cNvSpPr txBox="1">
            <a:spLocks/>
          </p:cNvSpPr>
          <p:nvPr/>
        </p:nvSpPr>
        <p:spPr>
          <a:xfrm>
            <a:off x="5309381" y="1825625"/>
            <a:ext cx="2734994" cy="4955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Safeguards</a:t>
            </a:r>
          </a:p>
        </p:txBody>
      </p:sp>
      <p:sp>
        <p:nvSpPr>
          <p:cNvPr id="10" name="Content Placeholder 2">
            <a:extLst>
              <a:ext uri="{FF2B5EF4-FFF2-40B4-BE49-F238E27FC236}">
                <a16:creationId xmlns:a16="http://schemas.microsoft.com/office/drawing/2014/main" id="{2F8ABC4F-3A3E-8FD7-911E-97510B49EA8E}"/>
              </a:ext>
            </a:extLst>
          </p:cNvPr>
          <p:cNvSpPr txBox="1">
            <a:spLocks/>
          </p:cNvSpPr>
          <p:nvPr/>
        </p:nvSpPr>
        <p:spPr>
          <a:xfrm>
            <a:off x="838200" y="4946307"/>
            <a:ext cx="2734994" cy="49554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Checkpoint 3 Goal: </a:t>
            </a:r>
          </a:p>
        </p:txBody>
      </p:sp>
      <p:pic>
        <p:nvPicPr>
          <p:cNvPr id="12" name="Graphic 11" descr="Building Brick Wall outline">
            <a:extLst>
              <a:ext uri="{FF2B5EF4-FFF2-40B4-BE49-F238E27FC236}">
                <a16:creationId xmlns:a16="http://schemas.microsoft.com/office/drawing/2014/main" id="{54C9A2F5-170D-CEA7-EB6B-8223E0A1F9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37894" y="4611687"/>
            <a:ext cx="2166425" cy="2166425"/>
          </a:xfrm>
          <a:prstGeom prst="rect">
            <a:avLst/>
          </a:prstGeom>
        </p:spPr>
      </p:pic>
    </p:spTree>
    <p:extLst>
      <p:ext uri="{BB962C8B-B14F-4D97-AF65-F5344CB8AC3E}">
        <p14:creationId xmlns:p14="http://schemas.microsoft.com/office/powerpoint/2010/main" val="1072418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1417</Words>
  <Application>Microsoft Macintosh PowerPoint</Application>
  <PresentationFormat>Widescreen</PresentationFormat>
  <Paragraphs>152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-webkit-standard</vt:lpstr>
      <vt:lpstr>Aptos</vt:lpstr>
      <vt:lpstr>Aptos Display</vt:lpstr>
      <vt:lpstr>Arial</vt:lpstr>
      <vt:lpstr>Wingdings</vt:lpstr>
      <vt:lpstr>Office Theme</vt:lpstr>
      <vt:lpstr>sust-AI-nable</vt:lpstr>
      <vt:lpstr>What We Needed to Validate: </vt:lpstr>
      <vt:lpstr>Prompting Protocol &amp; Validation Design</vt:lpstr>
      <vt:lpstr>Validation Reflection</vt:lpstr>
      <vt:lpstr>Evidence</vt:lpstr>
      <vt:lpstr>Gap Analysis &amp; Opportunity</vt:lpstr>
      <vt:lpstr>Concept Evolution</vt:lpstr>
      <vt:lpstr>Refined System Concept</vt:lpstr>
      <vt:lpstr>PowerPoint Presentation</vt:lpstr>
      <vt:lpstr>PowerPoint Presentation</vt:lpstr>
      <vt:lpstr>Risks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Sahu, Pooja</dc:creator>
  <cp:lastModifiedBy>Sahu, Pooja</cp:lastModifiedBy>
  <cp:revision>3</cp:revision>
  <dcterms:created xsi:type="dcterms:W3CDTF">2026-03-06T06:23:42Z</dcterms:created>
  <dcterms:modified xsi:type="dcterms:W3CDTF">2026-03-06T08:49:30Z</dcterms:modified>
</cp:coreProperties>
</file>